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notesSlides/notesSlide1.xml" Type="http://schemas.openxmlformats.org/officeDocument/2006/relationships/notesSlide"/><Relationship Id="rId2" Target="viewProps.xml" Type="http://schemas.openxmlformats.org/officeDocument/2006/relationships/viewProps"/><Relationship Id="rId20" Target="notesSlides/notesSlide2.xml" Type="http://schemas.openxmlformats.org/officeDocument/2006/relationships/notesSlide"/><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25" Target="notesSlides/notesSlide7.xml" Type="http://schemas.openxmlformats.org/officeDocument/2006/relationships/notesSlide"/><Relationship Id="rId26" Target="notesSlides/notesSlide8.xml" Type="http://schemas.openxmlformats.org/officeDocument/2006/relationships/notesSlide"/><Relationship Id="rId27" Target="notesSlides/notesSlide9.xml" Type="http://schemas.openxmlformats.org/officeDocument/2006/relationships/notesSlide"/><Relationship Id="rId28" Target="notesSlides/notesSlide10.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今天我将为大家带来一份关于近三年高考语文诗歌鉴赏题命题规律的分析报告。这份报告将基于全国卷的真题，深入解读其选材、命题方法，并为大家提供实用的审题技巧、答案构成分析以及针对性的备考建议。希望能为大家的备考带来一些启发和帮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报告将分为五个部分。首先，我们会探讨诗歌鉴赏题的选材角度；其次，分析其命题方法的特点与创新；接着，分享一些实用的审题技巧；然后，深入剖析答案的构成要素；最后，基于以上分析，为大家提出具体的备考建议。希望这个结构能帮助大家更好地理解报告内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首先我们来看选材角度。从近三年的真题来看，选材呈现出几个明显的规律。</a:t>
            </a:r>
          </a:p>
          <a:p>
            <a:pPr algn="l" indent="0">
              <a:lnSpc>
                <a:spcPct val="100000"/>
              </a:lnSpc>
            </a:pPr>
            <a:r>
              <a:rPr lang="en-US" b="false" i="false" strike="noStrike" u="none" sz="1400">
                <a:solidFill>
                  <a:srgbClr val="000000"/>
                </a:solidFill>
              </a:rPr>
              <a:t>在朝代上，唐宋是绝对的主力，尤其是宋诗，占比持续上升，成为命题的主阵地，这体现了对“宋型文化”及其理趣特点的重视。</a:t>
            </a:r>
          </a:p>
          <a:p>
            <a:pPr algn="l" indent="0">
              <a:lnSpc>
                <a:spcPct val="100000"/>
              </a:lnSpc>
            </a:pPr>
            <a:r>
              <a:rPr lang="en-US" b="false" i="false" strike="noStrike" u="none" sz="1400">
                <a:solidFill>
                  <a:srgbClr val="000000"/>
                </a:solidFill>
              </a:rPr>
              <a:t>体裁方面，七言律诗占据绝对优势。题材上，交际性和说理类诗歌并重，涵盖了酬和赠答、即景抒怀、咏物和说理等多种类型。</a:t>
            </a:r>
          </a:p>
          <a:p>
            <a:pPr algn="l" indent="0">
              <a:lnSpc>
                <a:spcPct val="100000"/>
              </a:lnSpc>
            </a:pPr>
            <a:r>
              <a:rPr lang="en-US" b="false" i="false" strike="noStrike" u="none" sz="1400">
                <a:solidFill>
                  <a:srgbClr val="000000"/>
                </a:solidFill>
              </a:rPr>
              <a:t>最后，内容上始终坚持立德树人的导向，注重对学生进行积极的价值引领。这张表格总结了选材的核心规律。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分析命题方法。首先看题型结构，非常固定，都是1道选择题加1道主观题，总分9分。选择题主要考查学生对诗歌内容的理解、意象意境的把握、情感的判断以及手法的辨析。常见的错误设置点包括情感曲解、手法误判等。值得注意的是，2024年全国甲卷出现了一个创新题型——“逻辑缺字题”，这要求学生不仅要理解诗歌，还要具备一定的逻辑推断能力，这是一个新的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主观题的命题则体现出三大转向：更加注重深度解读而非简单记忆，强调情境化分析而非套路答题，偏好融合设问而非单一考点。常见的题型有比较鉴赏、关联式命题、诗评题等。</a:t>
            </a:r>
          </a:p>
          <a:p>
            <a:pPr algn="l" indent="0">
              <a:lnSpc>
                <a:spcPct val="100000"/>
              </a:lnSpc>
            </a:pPr>
            <a:r>
              <a:rPr lang="en-US" b="false" i="false" strike="noStrike" u="none" sz="1400">
                <a:solidFill>
                  <a:srgbClr val="000000"/>
                </a:solidFill>
              </a:rPr>
              <a:t>同时，命题也越来越注重与教材的衔接，通过关联课内的实词、典故和篇目，引导学生回归教材，这也是“教考衔接”理念的具体体现。</a:t>
            </a:r>
          </a:p>
          <a:p>
            <a:pPr algn="l" indent="0">
              <a:lnSpc>
                <a:spcPct val="100000"/>
              </a:lnSpc>
            </a:pPr>
            <a:r>
              <a:rPr lang="en-US" b="false" i="false" strike="noStrike" u="none" sz="1400">
                <a:solidFill>
                  <a:srgbClr val="000000"/>
                </a:solidFill>
              </a:rPr>
              <a:t>右侧的表格总结了命题方法的核心特征，包括题型结构的稳定、选择题的新变化以及主观题和教考衔接的趋势。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审好题是答对题的关键。这里给大家介绍一个读诗的“五读”法，即读题目、读作者、读内容、读注释、读命题，这能帮助我们快速把握诗歌的核心信息。</a:t>
            </a:r>
          </a:p>
          <a:p>
            <a:pPr algn="l" indent="0">
              <a:lnSpc>
                <a:spcPct val="100000"/>
              </a:lnSpc>
            </a:pPr>
            <a:r>
              <a:rPr lang="en-US" b="false" i="false" strike="noStrike" u="none" sz="1400">
                <a:solidFill>
                  <a:srgbClr val="000000"/>
                </a:solidFill>
              </a:rPr>
              <a:t>对于选择题，要学会逐项比对，警惕那些容易出错的“高敏词”，并善于运用逆向排除法。主观题的审题则可以遵循“三步定位”法：读懂题意、找准角度、把握层次。</a:t>
            </a:r>
          </a:p>
          <a:p>
            <a:pPr algn="l" indent="0">
              <a:lnSpc>
                <a:spcPct val="100000"/>
              </a:lnSpc>
            </a:pPr>
            <a:r>
              <a:rPr lang="en-US" b="false" i="false" strike="noStrike" u="none" sz="1400">
                <a:solidFill>
                  <a:srgbClr val="000000"/>
                </a:solidFill>
              </a:rPr>
              <a:t>这张表格列出了不同题干类型的审题要点，比如在做比较鉴赏题时，一定要先明确比较的对象和维度；在做炼字炼句题时，不要仅仅停留在解释字义，更要分析其表达效果。希望这些技巧能帮助大家更精准地审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看答案的组成。选择题的答案相对直接，但需要我们对诗歌有扎实的理解才能排除错误选项，特别要注意那些程度夸大的表述。对于主观题，这里推荐一个“四步规范”的答题范式：首先点明答题角度，然后结合具体诗句进行分析，接着阐述其表达效果，最后点明所蕴含的情感。遵循这个范式，可以让我们的答案更加规范、完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不同题型的答案构成也有所不同。比如比较鉴赏题，要先进行整体比较，再分别对两首诗进行分析。诗评题则需要先提出自己的观点，再用诗歌中的具体内容作为论据来支撑。炼字题要先解释字义，再分析其表达效果和在全诗中的作用。同时，评分趋势也在变化，越来越强调对风格的评价和结合文本的分析，单纯的翻译和套话已经得不到高分了。这张表格总结了不同题型的答案核心构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基于以上分析，我为大家提出五点备考建议。第一，夯实知识基础，建立完整的鉴赏链条。第二，强化教考衔接，重视教材内容的梳理。第三，训练审题的精准度，不仅要读懂题干，更要分析出题人的意图。第四，规范答题范式，熟练运用我们之前提到的四步规范。第五，关注命题创新，主动学习和练习新题型。希望这些建议能帮助大家在备考中取得更好的效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我的报告到此结束，感谢大家的聆听！希望今天分享的内容能对大家有所帮助。如果有任何问题，欢迎大家交流探讨。谢谢！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notesSlides/notesSlide2.xml" Type="http://schemas.openxmlformats.org/officeDocument/2006/relationships/notesSlid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xml" Type="http://schemas.openxmlformats.org/officeDocument/2006/relationships/notesSlide"/><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4.xml" Type="http://schemas.openxmlformats.org/officeDocument/2006/relationships/notesSlid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6.xml" Type="http://schemas.openxmlformats.org/officeDocument/2006/relationships/notesSlide"/><Relationship Id="rId2" Target="../media/image1.png" Type="http://schemas.openxmlformats.org/officeDocument/2006/relationships/image"/><Relationship Id="rId3" Target="../media/image2.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1.png" Type="http://schemas.openxmlformats.org/officeDocument/2006/relationships/image"/><Relationship Id="rId11" Target="../media/image42.svg" Type="http://schemas.openxmlformats.org/officeDocument/2006/relationships/image"/><Relationship Id="rId12" Target="../media/image43.png" Type="http://schemas.openxmlformats.org/officeDocument/2006/relationships/image"/><Relationship Id="rId13" Target="../media/image44.svg" Type="http://schemas.openxmlformats.org/officeDocument/2006/relationships/image"/><Relationship Id="rId14" Target="../notesSlides/notesSlide7.xml" Type="http://schemas.openxmlformats.org/officeDocument/2006/relationships/notesSlide"/><Relationship Id="rId2" Target="../media/image37.png" Type="http://schemas.openxmlformats.org/officeDocument/2006/relationships/image"/><Relationship Id="rId3" Target="../media/image38.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9.png" Type="http://schemas.openxmlformats.org/officeDocument/2006/relationships/image"/><Relationship Id="rId9" Target="../media/image4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7.png" Type="http://schemas.openxmlformats.org/officeDocument/2006/relationships/image"/><Relationship Id="rId11" Target="../media/image28.svg" Type="http://schemas.openxmlformats.org/officeDocument/2006/relationships/image"/><Relationship Id="rId12" Target="../media/image55.png" Type="http://schemas.openxmlformats.org/officeDocument/2006/relationships/image"/><Relationship Id="rId13" Target="../media/image56.svg" Type="http://schemas.openxmlformats.org/officeDocument/2006/relationships/image"/><Relationship Id="rId14" Target="../notesSlides/notesSlide9.xml" Type="http://schemas.openxmlformats.org/officeDocument/2006/relationships/notesSlide"/><Relationship Id="rId2" Target="../media/image47.png" Type="http://schemas.openxmlformats.org/officeDocument/2006/relationships/image"/><Relationship Id="rId3" Target="../media/image48.sv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media/image51.png" Type="http://schemas.openxmlformats.org/officeDocument/2006/relationships/image"/><Relationship Id="rId7" Target="../media/image52.svg" Type="http://schemas.openxmlformats.org/officeDocument/2006/relationships/image"/><Relationship Id="rId8" Target="../media/image53.png" Type="http://schemas.openxmlformats.org/officeDocument/2006/relationships/image"/><Relationship Id="rId9" Target="../media/image5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7.png" Type="http://schemas.openxmlformats.org/officeDocument/2006/relationships/image"/><Relationship Id="rId3" Target="../media/image58.svg" Type="http://schemas.openxmlformats.org/officeDocument/2006/relationships/image"/><Relationship Id="rId4" Target="../notesSlides/notesSlide10.xml" Type="http://schemas.openxmlformats.org/officeDocument/2006/relationships/notesSlide"/><Relationship Id="rId5" Target="../media/image5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5791200" y="1016000"/>
            <a:ext cx="609600" cy="609600"/>
          </a:xfrm>
          <a:prstGeom prst="rect">
            <a:avLst/>
          </a:prstGeom>
        </p:spPr>
      </p:pic>
      <p:sp>
        <p:nvSpPr>
          <p:cNvPr name="AutoShape 3" id="3"/>
          <p:cNvSpPr/>
          <p:nvPr/>
        </p:nvSpPr>
        <p:spPr>
          <a:xfrm rot="0" flipH="false" flipV="false">
            <a:off x="381000" y="1778000"/>
            <a:ext cx="11430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003366"/>
                </a:solidFill>
                <a:latin typeface="Noto Sans SC"/>
                <a:ea typeface="Noto Sans SC"/>
                <a:cs typeface="Noto Sans SC"/>
                <a:sym typeface="Noto Sans SC"/>
              </a:rPr>
              <a:t>近三年（2023—2025年）高考语文诗歌鉴赏题命题规律分析</a:t>
            </a:r>
            <a:endParaRPr lang="en-US" sz="1100"/>
          </a:p>
        </p:txBody>
      </p:sp>
      <p:cxnSp>
        <p:nvCxnSpPr>
          <p:cNvPr name="Connector 4" id="4"/>
          <p:cNvCxnSpPr/>
          <p:nvPr/>
        </p:nvCxnSpPr>
        <p:spPr>
          <a:xfrm rot="-17188" flipH="false" flipV="false">
            <a:off x="4826016" y="3168650"/>
            <a:ext cx="2540000" cy="12700"/>
          </a:xfrm>
          <a:prstGeom prst="straightConnector1">
            <a:avLst/>
          </a:prstGeom>
          <a:solidFill>
            <a:srgbClr val="DEE0E3">
              <a:alpha val="100000"/>
            </a:srgbClr>
          </a:solidFill>
          <a:ln w="38100" cmpd="sng" cap="flat">
            <a:solidFill>
              <a:srgbClr val="FF6600">
                <a:alpha val="100000"/>
              </a:srgbClr>
            </a:solidFill>
            <a:prstDash val="solid"/>
            <a:round/>
            <a:headEnd type="none" w="lg" len="lg"/>
            <a:tailEnd type="none" w="lg" len="lg"/>
          </a:ln>
        </p:spPr>
      </p:cxnSp>
      <p:sp>
        <p:nvSpPr>
          <p:cNvPr name="AutoShape 5" id="5"/>
          <p:cNvSpPr/>
          <p:nvPr/>
        </p:nvSpPr>
        <p:spPr>
          <a:xfrm rot="0" flipH="false" flipV="false">
            <a:off x="381000" y="3429000"/>
            <a:ext cx="11430000" cy="762000"/>
          </a:xfrm>
          <a:prstGeom prst="rect">
            <a:avLst/>
          </a:prstGeom>
          <a:noFill/>
          <a:ln w="12700" cmpd="sng" cap="flat">
            <a:noFill/>
            <a:prstDash val="solid"/>
            <a:round/>
          </a:ln>
        </p:spPr>
        <p:txBody>
          <a:bodyPr anchor="t" rtlCol="false" anchorCtr="false" vert="horz" wrap="square" lIns="0" rIns="0" tIns="0" bIns="0"/>
          <a:lstStyle/>
          <a:p>
            <a:pPr algn="ctr" indent="0">
              <a:lnSpc>
                <a:spcPct val="125000"/>
              </a:lnSpc>
              <a:defRPr/>
            </a:pPr>
            <a:r>
              <a:rPr lang="en-US" b="false" i="false" strike="noStrike" u="none" sz="2000">
                <a:solidFill>
                  <a:srgbClr val="003366">
                    <a:alpha val="80000"/>
                  </a:srgbClr>
                </a:solidFill>
                <a:latin typeface="Noto Sans SC"/>
                <a:ea typeface="Noto Sans SC"/>
                <a:cs typeface="Noto Sans SC"/>
                <a:sym typeface="Noto Sans SC"/>
              </a:rPr>
              <a:t>基于全国卷的深度解读与备考策略</a:t>
            </a:r>
            <a:endParaRPr lang="en-US" sz="1100"/>
          </a:p>
        </p:txBody>
      </p:sp>
      <p:sp>
        <p:nvSpPr>
          <p:cNvPr name="AutoShape 6" id="6"/>
          <p:cNvSpPr/>
          <p:nvPr/>
        </p:nvSpPr>
        <p:spPr>
          <a:xfrm rot="0" flipH="false" flipV="false">
            <a:off x="381000" y="5334000"/>
            <a:ext cx="1143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808080">
                    <a:alpha val="60000"/>
                  </a:srgbClr>
                </a:solidFill>
                <a:latin typeface="Noto Sans SC"/>
                <a:ea typeface="Noto Sans SC"/>
                <a:cs typeface="Noto Sans SC"/>
                <a:sym typeface="Noto Sans SC"/>
              </a:rPr>
              <a:t>2026 届高考语文备考专题报告</a:t>
            </a:r>
            <a:endParaRPr lang="en-US" sz="1100"/>
          </a:p>
        </p:txBody>
      </p:sp>
      <p:sp>
        <p:nvSpPr>
          <p:cNvPr name="AutoShape 7" id="7"/>
          <p:cNvSpPr/>
          <p:nvPr/>
        </p:nvSpPr>
        <p:spPr>
          <a:xfrm rot="0" flipH="false" flipV="false">
            <a:off x="0" y="6705600"/>
            <a:ext cx="12192000" cy="1524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0584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3366"/>
                </a:solidFill>
                <a:latin typeface="Noto Sans SC"/>
                <a:ea typeface="Noto Sans SC"/>
                <a:cs typeface="Noto Sans SC"/>
                <a:sym typeface="Noto Sans SC"/>
              </a:rPr>
              <a:t>目录</a:t>
            </a:r>
            <a:endParaRPr lang="en-US" sz="1100"/>
          </a:p>
        </p:txBody>
      </p:sp>
      <p:sp>
        <p:nvSpPr>
          <p:cNvPr name="AutoShape 3" id="3"/>
          <p:cNvSpPr/>
          <p:nvPr/>
        </p:nvSpPr>
        <p:spPr>
          <a:xfrm rot="0" flipH="false" flipV="false">
            <a:off x="762000" y="1270000"/>
            <a:ext cx="508000" cy="508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10668000" cy="762000"/>
          </a:xfrm>
          <a:prstGeom prst="roundRect">
            <a:avLst>
              <a:gd name="adj" fmla="val 16666"/>
            </a:avLst>
          </a:prstGeom>
          <a:solidFill>
            <a:srgbClr val="F5F7FA">
              <a:alpha val="100000"/>
            </a:srgbClr>
          </a:solidFill>
          <a:ln cmpd="sng" cap="flat">
            <a:solidFill>
              <a:srgbClr val="C6D0E1">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854200"/>
            <a:ext cx="355600" cy="355600"/>
          </a:xfrm>
          <a:prstGeom prst="rect">
            <a:avLst/>
          </a:prstGeom>
        </p:spPr>
      </p:pic>
      <p:sp>
        <p:nvSpPr>
          <p:cNvPr name="AutoShape 6" id="6"/>
          <p:cNvSpPr/>
          <p:nvPr/>
        </p:nvSpPr>
        <p:spPr>
          <a:xfrm rot="0" flipH="false" flipV="false">
            <a:off x="1524000" y="17145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选材角度</a:t>
            </a:r>
            <a:endParaRPr lang="en-US" sz="1100"/>
          </a:p>
        </p:txBody>
      </p:sp>
      <p:sp>
        <p:nvSpPr>
          <p:cNvPr name="AutoShape 7" id="7"/>
          <p:cNvSpPr/>
          <p:nvPr/>
        </p:nvSpPr>
        <p:spPr>
          <a:xfrm rot="0" flipH="false" flipV="false">
            <a:off x="3175000" y="1752600"/>
            <a:ext cx="8001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分析诗歌鉴赏题的选材规律，包括朝代、体裁、题材等。</a:t>
            </a:r>
            <a:endParaRPr lang="en-US" sz="1100"/>
          </a:p>
        </p:txBody>
      </p:sp>
      <p:sp>
        <p:nvSpPr>
          <p:cNvPr name="AutoShape 8" id="8"/>
          <p:cNvSpPr/>
          <p:nvPr/>
        </p:nvSpPr>
        <p:spPr>
          <a:xfrm rot="0" flipH="false" flipV="false">
            <a:off x="762000" y="2540000"/>
            <a:ext cx="10668000" cy="762000"/>
          </a:xfrm>
          <a:prstGeom prst="roundRect">
            <a:avLst>
              <a:gd name="adj" fmla="val 16666"/>
            </a:avLst>
          </a:prstGeom>
          <a:solidFill>
            <a:srgbClr val="F5F7FA">
              <a:alpha val="100000"/>
            </a:srgbClr>
          </a:solidFill>
          <a:ln cmpd="sng" cap="flat">
            <a:solidFill>
              <a:srgbClr val="C6D0E1">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2743200"/>
            <a:ext cx="355600" cy="355600"/>
          </a:xfrm>
          <a:prstGeom prst="rect">
            <a:avLst/>
          </a:prstGeom>
        </p:spPr>
      </p:pic>
      <p:sp>
        <p:nvSpPr>
          <p:cNvPr name="AutoShape 10" id="10"/>
          <p:cNvSpPr/>
          <p:nvPr/>
        </p:nvSpPr>
        <p:spPr>
          <a:xfrm rot="0" flipH="false" flipV="false">
            <a:off x="1524000" y="26035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命题方法</a:t>
            </a:r>
            <a:endParaRPr lang="en-US" sz="1100"/>
          </a:p>
        </p:txBody>
      </p:sp>
      <p:sp>
        <p:nvSpPr>
          <p:cNvPr name="AutoShape 11" id="11"/>
          <p:cNvSpPr/>
          <p:nvPr/>
        </p:nvSpPr>
        <p:spPr>
          <a:xfrm rot="0" flipH="false" flipV="false">
            <a:off x="3175000" y="2641600"/>
            <a:ext cx="8001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解读选择题和主观题的命题特点与创新趋势。</a:t>
            </a:r>
            <a:endParaRPr lang="en-US" sz="1100"/>
          </a:p>
        </p:txBody>
      </p:sp>
      <p:sp>
        <p:nvSpPr>
          <p:cNvPr name="AutoShape 12" id="12"/>
          <p:cNvSpPr/>
          <p:nvPr/>
        </p:nvSpPr>
        <p:spPr>
          <a:xfrm rot="0" flipH="false" flipV="false">
            <a:off x="762000" y="3429000"/>
            <a:ext cx="10668000" cy="762000"/>
          </a:xfrm>
          <a:prstGeom prst="roundRect">
            <a:avLst>
              <a:gd name="adj" fmla="val 16666"/>
            </a:avLst>
          </a:prstGeom>
          <a:solidFill>
            <a:srgbClr val="F5F7FA">
              <a:alpha val="100000"/>
            </a:srgbClr>
          </a:solidFill>
          <a:ln cmpd="sng" cap="flat">
            <a:solidFill>
              <a:srgbClr val="C6D0E1">
                <a:alpha val="10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3632200"/>
            <a:ext cx="355600" cy="355600"/>
          </a:xfrm>
          <a:prstGeom prst="rect">
            <a:avLst/>
          </a:prstGeom>
        </p:spPr>
      </p:pic>
      <p:sp>
        <p:nvSpPr>
          <p:cNvPr name="AutoShape 14" id="14"/>
          <p:cNvSpPr/>
          <p:nvPr/>
        </p:nvSpPr>
        <p:spPr>
          <a:xfrm rot="0" flipH="false" flipV="false">
            <a:off x="1524000" y="34925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审题必备</a:t>
            </a:r>
            <a:endParaRPr lang="en-US" sz="1100"/>
          </a:p>
        </p:txBody>
      </p:sp>
      <p:sp>
        <p:nvSpPr>
          <p:cNvPr name="AutoShape 15" id="15"/>
          <p:cNvSpPr/>
          <p:nvPr/>
        </p:nvSpPr>
        <p:spPr>
          <a:xfrm rot="0" flipH="false" flipV="false">
            <a:off x="3175000" y="3530600"/>
            <a:ext cx="8001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提供高效的读诗方法和审题技巧。</a:t>
            </a:r>
            <a:endParaRPr lang="en-US" sz="1100"/>
          </a:p>
        </p:txBody>
      </p:sp>
      <p:sp>
        <p:nvSpPr>
          <p:cNvPr name="AutoShape 16" id="16"/>
          <p:cNvSpPr/>
          <p:nvPr/>
        </p:nvSpPr>
        <p:spPr>
          <a:xfrm rot="0" flipH="false" flipV="false">
            <a:off x="762000" y="4318000"/>
            <a:ext cx="10668000" cy="762000"/>
          </a:xfrm>
          <a:prstGeom prst="roundRect">
            <a:avLst>
              <a:gd name="adj" fmla="val 16666"/>
            </a:avLst>
          </a:prstGeom>
          <a:solidFill>
            <a:srgbClr val="F5F7FA">
              <a:alpha val="100000"/>
            </a:srgbClr>
          </a:solidFill>
          <a:ln cmpd="sng" cap="flat">
            <a:solidFill>
              <a:srgbClr val="C6D0E1">
                <a:alpha val="10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4521200"/>
            <a:ext cx="355600" cy="355600"/>
          </a:xfrm>
          <a:prstGeom prst="rect">
            <a:avLst/>
          </a:prstGeom>
        </p:spPr>
      </p:pic>
      <p:sp>
        <p:nvSpPr>
          <p:cNvPr name="AutoShape 18" id="18"/>
          <p:cNvSpPr/>
          <p:nvPr/>
        </p:nvSpPr>
        <p:spPr>
          <a:xfrm rot="0" flipH="false" flipV="false">
            <a:off x="1524000" y="43815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答案组成</a:t>
            </a:r>
            <a:endParaRPr lang="en-US" sz="1100"/>
          </a:p>
        </p:txBody>
      </p:sp>
      <p:sp>
        <p:nvSpPr>
          <p:cNvPr name="AutoShape 19" id="19"/>
          <p:cNvSpPr/>
          <p:nvPr/>
        </p:nvSpPr>
        <p:spPr>
          <a:xfrm rot="0" flipH="false" flipV="false">
            <a:off x="3175000" y="4419600"/>
            <a:ext cx="8001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剖析不同题型的答案构成和评分标准。</a:t>
            </a:r>
            <a:endParaRPr lang="en-US" sz="1100"/>
          </a:p>
        </p:txBody>
      </p:sp>
      <p:sp>
        <p:nvSpPr>
          <p:cNvPr name="AutoShape 20" id="20"/>
          <p:cNvSpPr/>
          <p:nvPr/>
        </p:nvSpPr>
        <p:spPr>
          <a:xfrm rot="0" flipH="false" flipV="false">
            <a:off x="762000" y="5207000"/>
            <a:ext cx="10668000" cy="762000"/>
          </a:xfrm>
          <a:prstGeom prst="roundRect">
            <a:avLst>
              <a:gd name="adj" fmla="val 16666"/>
            </a:avLst>
          </a:prstGeom>
          <a:solidFill>
            <a:srgbClr val="F5F7FA">
              <a:alpha val="100000"/>
            </a:srgbClr>
          </a:solidFill>
          <a:ln cmpd="sng" cap="flat">
            <a:solidFill>
              <a:srgbClr val="C6D0E1">
                <a:alpha val="10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5410200"/>
            <a:ext cx="355600" cy="355600"/>
          </a:xfrm>
          <a:prstGeom prst="rect">
            <a:avLst/>
          </a:prstGeom>
        </p:spPr>
      </p:pic>
      <p:sp>
        <p:nvSpPr>
          <p:cNvPr name="AutoShape 22" id="22"/>
          <p:cNvSpPr/>
          <p:nvPr/>
        </p:nvSpPr>
        <p:spPr>
          <a:xfrm rot="0" flipH="false" flipV="false">
            <a:off x="1524000" y="52705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备考建议</a:t>
            </a:r>
            <a:endParaRPr lang="en-US" sz="1100"/>
          </a:p>
        </p:txBody>
      </p:sp>
      <p:sp>
        <p:nvSpPr>
          <p:cNvPr name="AutoShape 23" id="23"/>
          <p:cNvSpPr/>
          <p:nvPr/>
        </p:nvSpPr>
        <p:spPr>
          <a:xfrm rot="0" flipH="false" flipV="false">
            <a:off x="3175000" y="5308600"/>
            <a:ext cx="8001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基于分析结果，给出具体的备考策略。</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35179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3366"/>
                </a:solidFill>
                <a:latin typeface="Noto Sans SC"/>
                <a:ea typeface="Noto Sans SC"/>
                <a:cs typeface="Noto Sans SC"/>
                <a:sym typeface="Noto Sans SC"/>
              </a:rPr>
              <a:t>一、选材角度</a:t>
            </a:r>
            <a:endParaRPr lang="en-US" sz="1100"/>
          </a:p>
        </p:txBody>
      </p:sp>
      <p:sp>
        <p:nvSpPr>
          <p:cNvPr name="AutoShape 3" id="3"/>
          <p:cNvSpPr/>
          <p:nvPr/>
        </p:nvSpPr>
        <p:spPr>
          <a:xfrm rot="0" flipH="false" flipV="false">
            <a:off x="762000" y="1270000"/>
            <a:ext cx="762000" cy="50800"/>
          </a:xfrm>
          <a:prstGeom prst="roundRect">
            <a:avLst>
              <a:gd name="adj" fmla="val 0"/>
            </a:avLst>
          </a:prstGeom>
          <a:solidFill>
            <a:srgbClr val="FF660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5207000" cy="1397000"/>
          </a:xfrm>
          <a:prstGeom prst="roundRect">
            <a:avLst>
              <a:gd name="adj" fmla="val 9090"/>
            </a:avLst>
          </a:prstGeom>
          <a:solidFill>
            <a:srgbClr val="003366">
              <a:alpha val="4000"/>
            </a:srgbClr>
          </a:solidFill>
          <a:ln cmpd="sng" cap="flat">
            <a:solidFill>
              <a:srgbClr val="00264D">
                <a:alpha val="4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968500"/>
            <a:ext cx="508000" cy="508000"/>
          </a:xfrm>
          <a:prstGeom prst="rect">
            <a:avLst/>
          </a:prstGeom>
        </p:spPr>
      </p:pic>
      <p:sp>
        <p:nvSpPr>
          <p:cNvPr name="AutoShape 6" id="6"/>
          <p:cNvSpPr/>
          <p:nvPr/>
        </p:nvSpPr>
        <p:spPr>
          <a:xfrm rot="0" flipH="false" flipV="false">
            <a:off x="1651000" y="18415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朝代分布：唐宋为主，宋诗成主流</a:t>
            </a:r>
            <a:endParaRPr lang="en-US" sz="1100"/>
          </a:p>
        </p:txBody>
      </p:sp>
      <p:sp>
        <p:nvSpPr>
          <p:cNvPr name="AutoShape 7" id="7"/>
          <p:cNvSpPr/>
          <p:nvPr/>
        </p:nvSpPr>
        <p:spPr>
          <a:xfrm rot="0" flipH="false" flipV="false">
            <a:off x="1651000" y="2222500"/>
            <a:ext cx="406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666666"/>
                </a:solidFill>
                <a:latin typeface="Noto Sans SC"/>
                <a:ea typeface="Noto Sans SC"/>
                <a:cs typeface="Noto Sans SC"/>
                <a:sym typeface="Noto Sans SC"/>
              </a:rPr>
              <a:t>近三年真题中宋诗占比持续上升，2024年全为宋诗。宋代诗歌侧重“宋型文化”与理趣特点，是命题主阵地。</a:t>
            </a:r>
            <a:endParaRPr lang="en-US" sz="1100"/>
          </a:p>
        </p:txBody>
      </p:sp>
      <p:sp>
        <p:nvSpPr>
          <p:cNvPr name="AutoShape 8" id="8"/>
          <p:cNvSpPr/>
          <p:nvPr/>
        </p:nvSpPr>
        <p:spPr>
          <a:xfrm rot="0" flipH="false" flipV="false">
            <a:off x="762000" y="3238500"/>
            <a:ext cx="5207000" cy="1397000"/>
          </a:xfrm>
          <a:prstGeom prst="roundRect">
            <a:avLst>
              <a:gd name="adj" fmla="val 9090"/>
            </a:avLst>
          </a:prstGeom>
          <a:solidFill>
            <a:srgbClr val="003366">
              <a:alpha val="4000"/>
            </a:srgbClr>
          </a:solidFill>
          <a:ln cmpd="sng" cap="flat">
            <a:solidFill>
              <a:srgbClr val="00264D">
                <a:alpha val="4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556000"/>
            <a:ext cx="508000" cy="508000"/>
          </a:xfrm>
          <a:prstGeom prst="rect">
            <a:avLst/>
          </a:prstGeom>
        </p:spPr>
      </p:pic>
      <p:sp>
        <p:nvSpPr>
          <p:cNvPr name="AutoShape 10" id="10"/>
          <p:cNvSpPr/>
          <p:nvPr/>
        </p:nvSpPr>
        <p:spPr>
          <a:xfrm rot="0" flipH="false" flipV="false">
            <a:off x="1651000" y="34290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体裁偏好：七言律诗为主</a:t>
            </a:r>
            <a:endParaRPr lang="en-US" sz="1100"/>
          </a:p>
        </p:txBody>
      </p:sp>
      <p:sp>
        <p:nvSpPr>
          <p:cNvPr name="AutoShape 11" id="11"/>
          <p:cNvSpPr/>
          <p:nvPr/>
        </p:nvSpPr>
        <p:spPr>
          <a:xfrm rot="0" flipH="false" flipV="false">
            <a:off x="1651000" y="3810000"/>
            <a:ext cx="406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666666"/>
                </a:solidFill>
                <a:latin typeface="Noto Sans SC"/>
                <a:ea typeface="Noto Sans SC"/>
                <a:cs typeface="Noto Sans SC"/>
                <a:sym typeface="Noto Sans SC"/>
              </a:rPr>
              <a:t>七律为绝对主体，偶有五言律诗和词作。侧重考查诗歌的格律规范与对仗艺术，体现严谨的审美要求。</a:t>
            </a:r>
            <a:endParaRPr lang="en-US" sz="1100"/>
          </a:p>
        </p:txBody>
      </p:sp>
      <p:sp>
        <p:nvSpPr>
          <p:cNvPr name="AutoShape 12" id="12"/>
          <p:cNvSpPr/>
          <p:nvPr/>
        </p:nvSpPr>
        <p:spPr>
          <a:xfrm rot="0" flipH="false" flipV="false">
            <a:off x="762000" y="4826000"/>
            <a:ext cx="5207000" cy="1397000"/>
          </a:xfrm>
          <a:prstGeom prst="roundRect">
            <a:avLst>
              <a:gd name="adj" fmla="val 9090"/>
            </a:avLst>
          </a:prstGeom>
          <a:solidFill>
            <a:srgbClr val="003366">
              <a:alpha val="4000"/>
            </a:srgbClr>
          </a:solidFill>
          <a:ln cmpd="sng" cap="flat">
            <a:solidFill>
              <a:srgbClr val="00264D">
                <a:alpha val="4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5143500"/>
            <a:ext cx="508000" cy="508000"/>
          </a:xfrm>
          <a:prstGeom prst="rect">
            <a:avLst/>
          </a:prstGeom>
        </p:spPr>
      </p:pic>
      <p:sp>
        <p:nvSpPr>
          <p:cNvPr name="AutoShape 14" id="14"/>
          <p:cNvSpPr/>
          <p:nvPr/>
        </p:nvSpPr>
        <p:spPr>
          <a:xfrm rot="0" flipH="false" flipV="false">
            <a:off x="1651000" y="50165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题材类型：交际与说理并重</a:t>
            </a:r>
            <a:endParaRPr lang="en-US" sz="1100"/>
          </a:p>
        </p:txBody>
      </p:sp>
      <p:sp>
        <p:nvSpPr>
          <p:cNvPr name="AutoShape 15" id="15"/>
          <p:cNvSpPr/>
          <p:nvPr/>
        </p:nvSpPr>
        <p:spPr>
          <a:xfrm rot="0" flipH="false" flipV="false">
            <a:off x="1651000" y="5397500"/>
            <a:ext cx="406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666666"/>
                </a:solidFill>
                <a:latin typeface="Noto Sans SC"/>
                <a:ea typeface="Noto Sans SC"/>
                <a:cs typeface="Noto Sans SC"/>
                <a:sym typeface="Noto Sans SC"/>
              </a:rPr>
              <a:t>涵盖酬和赠答、即景/即事抒怀、咏物及说理诗。注重考查诗歌在具体语境下的情感表达与哲理思考。</a:t>
            </a:r>
            <a:endParaRPr lang="en-US" sz="1100"/>
          </a:p>
        </p:txBody>
      </p:sp>
      <p:sp>
        <p:nvSpPr>
          <p:cNvPr name="AutoShape 16" id="16"/>
          <p:cNvSpPr/>
          <p:nvPr/>
        </p:nvSpPr>
        <p:spPr>
          <a:xfrm rot="0" flipH="false" flipV="false">
            <a:off x="6223000" y="1651000"/>
            <a:ext cx="520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选材规律核心数据概览</a:t>
            </a:r>
            <a:endParaRPr lang="en-US" sz="1100"/>
          </a:p>
        </p:txBody>
      </p:sp>
      <p:graphicFrame>
        <p:nvGraphicFramePr>
          <p:cNvPr name="Table 17" id="17"/>
          <p:cNvGraphicFramePr>
            <a:graphicFrameLocks noGrp="true"/>
          </p:cNvGraphicFramePr>
          <p:nvPr/>
        </p:nvGraphicFramePr>
        <p:xfrm>
          <a:off x="6223000" y="2159000"/>
          <a:ext cx="5207000" cy="3048000"/>
        </p:xfrm>
        <a:graphic>
          <a:graphicData uri="http://schemas.openxmlformats.org/drawingml/2006/table">
            <a:tbl>
              <a:tblPr>
                <a:effectLst/>
              </a:tblPr>
              <a:tblGrid>
                <a:gridCol w="1270000"/>
                <a:gridCol w="3937000"/>
              </a:tblGrid>
              <a:tr h="508000">
                <a:tc>
                  <a:txBody>
                    <a:bodyPr anchor="t" rtlCol="false"/>
                    <a:lstStyle/>
                    <a:p>
                      <a:pPr algn="ctr" indent="0">
                        <a:lnSpc>
                          <a:spcPct val="100000"/>
                        </a:lnSpc>
                        <a:defRPr/>
                      </a:pPr>
                      <a:r>
                        <a:rPr lang="en-US" b="true" i="false" strike="noStrike" u="none" sz="1500">
                          <a:solidFill>
                            <a:srgbClr val="FFFFFF"/>
                          </a:solidFill>
                          <a:latin typeface="Noto Sans SC"/>
                          <a:ea typeface="Noto Sans SC"/>
                          <a:cs typeface="Noto Sans SC"/>
                          <a:sym typeface="Noto Sans SC"/>
                        </a:rPr>
                        <a:t>维度</a:t>
                      </a:r>
                      <a:endParaRPr lang="en-US" sz="1100"/>
                    </a:p>
                  </a:txBody>
                  <a:tcPr anchor="ctr" anchorCtr="false" marL="101600" marR="101600" marT="101600" marB="101600">
                    <a:lnL>
                      <a:noFill/>
                    </a:lnL>
                    <a:lnR>
                      <a:noFill/>
                    </a:lnR>
                    <a:lnT>
                      <a:noFill/>
                    </a:lnT>
                    <a:lnB>
                      <a:noFill/>
                    </a:lnB>
                    <a:solidFill>
                      <a:srgbClr val="003366">
                        <a:alpha val="100000"/>
                      </a:srgbClr>
                    </a:solidFill>
                  </a:tcPr>
                </a:tc>
                <a:tc>
                  <a:txBody>
                    <a:bodyPr anchor="t" rtlCol="false"/>
                    <a:lstStyle/>
                    <a:p>
                      <a:pPr algn="ctr" indent="0">
                        <a:lnSpc>
                          <a:spcPct val="100000"/>
                        </a:lnSpc>
                        <a:defRPr/>
                      </a:pPr>
                      <a:r>
                        <a:rPr lang="en-US" b="true" i="false" strike="noStrike" u="none" sz="1500">
                          <a:solidFill>
                            <a:srgbClr val="FFFFFF"/>
                          </a:solidFill>
                          <a:latin typeface="Noto Sans SC"/>
                          <a:ea typeface="Noto Sans SC"/>
                          <a:cs typeface="Noto Sans SC"/>
                          <a:sym typeface="Noto Sans SC"/>
                        </a:rPr>
                        <a:t>规律总结</a:t>
                      </a:r>
                      <a:endParaRPr lang="en-US" sz="1100"/>
                    </a:p>
                  </a:txBody>
                  <a:tcPr anchor="ctr" anchorCtr="false" marL="101600" marR="101600" marT="101600" marB="101600">
                    <a:lnL>
                      <a:noFill/>
                    </a:lnL>
                    <a:lnR>
                      <a:noFill/>
                    </a:lnR>
                    <a:lnT>
                      <a:noFill/>
                    </a:lnT>
                    <a:lnB>
                      <a:noFill/>
                    </a:lnB>
                    <a:solidFill>
                      <a:srgbClr val="003366">
                        <a:alpha val="100000"/>
                      </a:srgbClr>
                    </a:solidFill>
                  </a:tcPr>
                </a:tc>
              </a:tr>
              <a:tr h="635000">
                <a:tc>
                  <a:txBody>
                    <a:bodyPr anchor="t" rtlCol="false"/>
                    <a:lstStyle/>
                    <a:p>
                      <a:pPr algn="ctr" indent="0">
                        <a:lnSpc>
                          <a:spcPct val="100000"/>
                        </a:lnSpc>
                        <a:defRPr/>
                      </a:pPr>
                      <a:r>
                        <a:rPr lang="en-US" b="true" i="false" strike="noStrike" u="none" sz="1400">
                          <a:solidFill>
                            <a:srgbClr val="003366"/>
                          </a:solidFill>
                          <a:latin typeface="Noto Sans SC"/>
                          <a:ea typeface="Noto Sans SC"/>
                          <a:cs typeface="Noto Sans SC"/>
                          <a:sym typeface="Noto Sans SC"/>
                        </a:rPr>
                        <a:t>朝代</a:t>
                      </a:r>
                      <a:endParaRPr lang="en-US" sz="1100"/>
                    </a:p>
                  </a:txBody>
                  <a:tcPr anchor="ctr" anchorCtr="false" marL="101600" marR="101600" marT="101600" marB="101600">
                    <a:lnL>
                      <a:noFill/>
                    </a:lnL>
                    <a:lnR>
                      <a:noFill/>
                    </a:lnR>
                    <a:lnT>
                      <a:noFill/>
                    </a:lnT>
                    <a:lnB>
                      <a:noFill/>
                    </a:lnB>
                    <a:solidFill>
                      <a:srgbClr val="003366">
                        <a:alpha val="5000"/>
                      </a:srgbClr>
                    </a:solidFill>
                  </a:tcPr>
                </a:tc>
                <a:tc>
                  <a:txBody>
                    <a:bodyPr anchor="t" rtlCol="false"/>
                    <a:lstStyle/>
                    <a:p>
                      <a:pPr algn="l" indent="0" marL="127000">
                        <a:lnSpc>
                          <a:spcPct val="100000"/>
                        </a:lnSpc>
                        <a:defRPr/>
                      </a:pPr>
                      <a:r>
                        <a:rPr lang="en-US" b="false" i="false" strike="noStrike" u="none" sz="1400">
                          <a:solidFill>
                            <a:srgbClr val="666666"/>
                          </a:solidFill>
                          <a:latin typeface="Noto Sans SC"/>
                          <a:ea typeface="Noto Sans SC"/>
                          <a:cs typeface="Noto Sans SC"/>
                          <a:sym typeface="Noto Sans SC"/>
                        </a:rPr>
                        <a:t>唐宋为主，宋诗占比持续上升，成命题主阵地</a:t>
                      </a:r>
                      <a:endParaRPr lang="en-US" sz="1100"/>
                    </a:p>
                  </a:txBody>
                  <a:tcPr anchor="ctr" anchorCtr="false" marL="101600" marR="101600" marT="101600" marB="101600">
                    <a:lnL>
                      <a:noFill/>
                    </a:lnL>
                    <a:lnR>
                      <a:noFill/>
                    </a:lnR>
                    <a:lnT>
                      <a:noFill/>
                    </a:lnT>
                    <a:lnB>
                      <a:noFill/>
                    </a:lnB>
                    <a:solidFill>
                      <a:srgbClr val="003366">
                        <a:alpha val="5000"/>
                      </a:srgbClr>
                    </a:solidFill>
                  </a:tcPr>
                </a:tc>
              </a:tr>
              <a:tr h="635000">
                <a:tc>
                  <a:txBody>
                    <a:bodyPr anchor="t" rtlCol="false"/>
                    <a:lstStyle/>
                    <a:p>
                      <a:pPr algn="ctr" indent="0">
                        <a:lnSpc>
                          <a:spcPct val="100000"/>
                        </a:lnSpc>
                        <a:defRPr/>
                      </a:pPr>
                      <a:r>
                        <a:rPr lang="en-US" b="true" i="false" strike="noStrike" u="none" sz="1400">
                          <a:solidFill>
                            <a:srgbClr val="003366"/>
                          </a:solidFill>
                          <a:latin typeface="Noto Sans SC"/>
                          <a:ea typeface="Noto Sans SC"/>
                          <a:cs typeface="Noto Sans SC"/>
                          <a:sym typeface="Noto Sans SC"/>
                        </a:rPr>
                        <a:t>体裁</a:t>
                      </a:r>
                      <a:endParaRPr lang="en-US" sz="1100"/>
                    </a:p>
                  </a:txBody>
                  <a:tcPr anchor="ctr" anchorCtr="false" marL="101600" marR="101600" marT="101600" marB="101600">
                    <a:lnL>
                      <a:noFill/>
                    </a:lnL>
                    <a:lnR>
                      <a:noFill/>
                    </a:lnR>
                    <a:lnT>
                      <a:noFill/>
                    </a:lnT>
                    <a:lnB>
                      <a:noFill/>
                    </a:lnB>
                    <a:solidFill>
                      <a:srgbClr val="003366">
                        <a:alpha val="5000"/>
                      </a:srgbClr>
                    </a:solidFill>
                  </a:tcPr>
                </a:tc>
                <a:tc>
                  <a:txBody>
                    <a:bodyPr anchor="t" rtlCol="false"/>
                    <a:lstStyle/>
                    <a:p>
                      <a:pPr algn="l" indent="0" marL="127000">
                        <a:lnSpc>
                          <a:spcPct val="100000"/>
                        </a:lnSpc>
                        <a:defRPr/>
                      </a:pPr>
                      <a:r>
                        <a:rPr lang="en-US" b="false" i="false" strike="noStrike" u="none" sz="1400">
                          <a:solidFill>
                            <a:srgbClr val="666666"/>
                          </a:solidFill>
                          <a:latin typeface="Noto Sans SC"/>
                          <a:ea typeface="Noto Sans SC"/>
                          <a:cs typeface="Noto Sans SC"/>
                          <a:sym typeface="Noto Sans SC"/>
                        </a:rPr>
                        <a:t>七言律诗为绝对主体，兼顾格律与内容深度</a:t>
                      </a:r>
                      <a:endParaRPr lang="en-US" sz="1100"/>
                    </a:p>
                  </a:txBody>
                  <a:tcPr anchor="ctr" anchorCtr="false" marL="101600" marR="101600" marT="101600" marB="101600">
                    <a:lnL>
                      <a:noFill/>
                    </a:lnL>
                    <a:lnR>
                      <a:noFill/>
                    </a:lnR>
                    <a:lnT>
                      <a:noFill/>
                    </a:lnT>
                    <a:lnB>
                      <a:noFill/>
                    </a:lnB>
                    <a:solidFill>
                      <a:srgbClr val="003366">
                        <a:alpha val="5000"/>
                      </a:srgbClr>
                    </a:solidFill>
                  </a:tcPr>
                </a:tc>
              </a:tr>
              <a:tr h="635000">
                <a:tc>
                  <a:txBody>
                    <a:bodyPr anchor="t" rtlCol="false"/>
                    <a:lstStyle/>
                    <a:p>
                      <a:pPr algn="ctr" indent="0">
                        <a:lnSpc>
                          <a:spcPct val="100000"/>
                        </a:lnSpc>
                        <a:defRPr/>
                      </a:pPr>
                      <a:r>
                        <a:rPr lang="en-US" b="true" i="false" strike="noStrike" u="none" sz="1400">
                          <a:solidFill>
                            <a:srgbClr val="003366"/>
                          </a:solidFill>
                          <a:latin typeface="Noto Sans SC"/>
                          <a:ea typeface="Noto Sans SC"/>
                          <a:cs typeface="Noto Sans SC"/>
                          <a:sym typeface="Noto Sans SC"/>
                        </a:rPr>
                        <a:t>作者</a:t>
                      </a:r>
                      <a:endParaRPr lang="en-US" sz="1100"/>
                    </a:p>
                  </a:txBody>
                  <a:tcPr anchor="ctr" anchorCtr="false" marL="101600" marR="101600" marT="101600" marB="101600">
                    <a:lnL>
                      <a:noFill/>
                    </a:lnL>
                    <a:lnR>
                      <a:noFill/>
                    </a:lnR>
                    <a:lnT>
                      <a:noFill/>
                    </a:lnT>
                    <a:lnB>
                      <a:noFill/>
                    </a:lnB>
                    <a:solidFill>
                      <a:srgbClr val="003366">
                        <a:alpha val="5000"/>
                      </a:srgbClr>
                    </a:solidFill>
                  </a:tcPr>
                </a:tc>
                <a:tc>
                  <a:txBody>
                    <a:bodyPr anchor="t" rtlCol="false"/>
                    <a:lstStyle/>
                    <a:p>
                      <a:pPr algn="l" indent="0" marL="127000">
                        <a:lnSpc>
                          <a:spcPct val="100000"/>
                        </a:lnSpc>
                        <a:defRPr/>
                      </a:pPr>
                      <a:r>
                        <a:rPr lang="en-US" b="false" i="false" strike="noStrike" u="none" sz="1400">
                          <a:solidFill>
                            <a:srgbClr val="666666"/>
                          </a:solidFill>
                          <a:latin typeface="Noto Sans SC"/>
                          <a:ea typeface="Noto Sans SC"/>
                          <a:cs typeface="Noto Sans SC"/>
                          <a:sym typeface="Noto Sans SC"/>
                        </a:rPr>
                        <a:t>名家非名篇（如王安石、刘克庄、林逋）</a:t>
                      </a:r>
                      <a:endParaRPr lang="en-US" sz="1100"/>
                    </a:p>
                  </a:txBody>
                  <a:tcPr anchor="ctr" anchorCtr="false" marL="101600" marR="101600" marT="101600" marB="101600">
                    <a:lnL>
                      <a:noFill/>
                    </a:lnL>
                    <a:lnR>
                      <a:noFill/>
                    </a:lnR>
                    <a:lnT>
                      <a:noFill/>
                    </a:lnT>
                    <a:lnB>
                      <a:noFill/>
                    </a:lnB>
                    <a:solidFill>
                      <a:srgbClr val="003366">
                        <a:alpha val="5000"/>
                      </a:srgbClr>
                    </a:solidFill>
                  </a:tcPr>
                </a:tc>
              </a:tr>
              <a:tr h="635000">
                <a:tc>
                  <a:txBody>
                    <a:bodyPr anchor="t" rtlCol="false"/>
                    <a:lstStyle/>
                    <a:p>
                      <a:pPr algn="ctr" indent="0">
                        <a:lnSpc>
                          <a:spcPct val="100000"/>
                        </a:lnSpc>
                        <a:defRPr/>
                      </a:pPr>
                      <a:r>
                        <a:rPr lang="en-US" b="true" i="false" strike="noStrike" u="none" sz="1400">
                          <a:solidFill>
                            <a:srgbClr val="003366"/>
                          </a:solidFill>
                          <a:latin typeface="Noto Sans SC"/>
                          <a:ea typeface="Noto Sans SC"/>
                          <a:cs typeface="Noto Sans SC"/>
                          <a:sym typeface="Noto Sans SC"/>
                        </a:rPr>
                        <a:t>导向</a:t>
                      </a:r>
                      <a:endParaRPr lang="en-US" sz="1100"/>
                    </a:p>
                  </a:txBody>
                  <a:tcPr anchor="ctr" anchorCtr="false" marL="101600" marR="101600" marT="101600" marB="101600">
                    <a:lnL>
                      <a:noFill/>
                    </a:lnL>
                    <a:lnR>
                      <a:noFill/>
                    </a:lnR>
                    <a:lnT>
                      <a:noFill/>
                    </a:lnT>
                    <a:lnB>
                      <a:noFill/>
                    </a:lnB>
                    <a:solidFill>
                      <a:srgbClr val="003366">
                        <a:alpha val="5000"/>
                      </a:srgbClr>
                    </a:solidFill>
                  </a:tcPr>
                </a:tc>
                <a:tc>
                  <a:txBody>
                    <a:bodyPr anchor="t" rtlCol="false"/>
                    <a:lstStyle/>
                    <a:p>
                      <a:pPr algn="l" indent="0" marL="127000">
                        <a:lnSpc>
                          <a:spcPct val="100000"/>
                        </a:lnSpc>
                        <a:defRPr/>
                      </a:pPr>
                      <a:r>
                        <a:rPr lang="en-US" b="false" i="false" strike="noStrike" u="none" sz="1400">
                          <a:solidFill>
                            <a:srgbClr val="666666"/>
                          </a:solidFill>
                          <a:latin typeface="Noto Sans SC"/>
                          <a:ea typeface="Noto Sans SC"/>
                          <a:cs typeface="Noto Sans SC"/>
                          <a:sym typeface="Noto Sans SC"/>
                        </a:rPr>
                        <a:t>立德树人，聚焦家国情怀、人格修养与人生感悟</a:t>
                      </a:r>
                      <a:endParaRPr lang="en-US" sz="1100"/>
                    </a:p>
                  </a:txBody>
                  <a:tcPr anchor="ctr" anchorCtr="false" marL="101600" marR="101600" marT="101600" marB="101600">
                    <a:lnL>
                      <a:noFill/>
                    </a:lnL>
                    <a:lnR>
                      <a:noFill/>
                    </a:lnR>
                    <a:lnT>
                      <a:noFill/>
                    </a:lnT>
                    <a:lnB>
                      <a:noFill/>
                    </a:lnB>
                    <a:solidFill>
                      <a:srgbClr val="003366">
                        <a:alpha val="5000"/>
                      </a:srgbClr>
                    </a:solidFill>
                  </a:tcPr>
                </a:tc>
              </a:tr>
            </a:tbl>
          </a:graphicData>
        </a:graphic>
      </p:graphicFrame>
      <p:sp>
        <p:nvSpPr>
          <p:cNvPr name="AutoShape 18" id="18"/>
          <p:cNvSpPr/>
          <p:nvPr/>
        </p:nvSpPr>
        <p:spPr>
          <a:xfrm rot="0" flipH="false" flipV="false">
            <a:off x="6223000" y="5715000"/>
            <a:ext cx="5207000" cy="508000"/>
          </a:xfrm>
          <a:prstGeom prst="roundRect">
            <a:avLst>
              <a:gd name="adj" fmla="val 0"/>
            </a:avLst>
          </a:prstGeom>
          <a:solidFill>
            <a:srgbClr val="FF6600">
              <a:alpha val="10000"/>
            </a:srgbClr>
          </a:solidFill>
          <a:ln cmpd="sng" cap="flat">
            <a:solidFill>
              <a:srgbClr val="E65C00">
                <a:alpha val="1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350000" y="5816600"/>
            <a:ext cx="304800" cy="304800"/>
          </a:xfrm>
          <a:prstGeom prst="rect">
            <a:avLst/>
          </a:prstGeom>
        </p:spPr>
      </p:pic>
      <p:sp>
        <p:nvSpPr>
          <p:cNvPr name="AutoShape 20" id="20"/>
          <p:cNvSpPr/>
          <p:nvPr/>
        </p:nvSpPr>
        <p:spPr>
          <a:xfrm rot="0" flipH="false" flipV="false">
            <a:off x="6731000" y="5715000"/>
            <a:ext cx="457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6600"/>
                </a:solidFill>
                <a:latin typeface="Noto Sans SC"/>
                <a:ea typeface="Noto Sans SC"/>
                <a:cs typeface="Noto Sans SC"/>
                <a:sym typeface="Noto Sans SC"/>
              </a:rPr>
              <a:t>核心洞察：注重“宋型文化”与理趣，坚持价值引领</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402336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3366"/>
                </a:solidFill>
                <a:latin typeface="Noto Sans SC"/>
                <a:ea typeface="Noto Sans SC"/>
                <a:cs typeface="Noto Sans SC"/>
                <a:sym typeface="Noto Sans SC"/>
              </a:rPr>
              <a:t>二、命题方法（一）</a:t>
            </a:r>
            <a:endParaRPr lang="en-US" sz="1100"/>
          </a:p>
        </p:txBody>
      </p:sp>
      <p:cxnSp>
        <p:nvCxnSpPr>
          <p:cNvPr name="Connector 3" id="3"/>
          <p:cNvCxnSpPr/>
          <p:nvPr/>
        </p:nvCxnSpPr>
        <p:spPr>
          <a:xfrm rot="-4092" flipH="false" flipV="false">
            <a:off x="762004" y="1263650"/>
            <a:ext cx="106680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4" id="4"/>
          <p:cNvSpPr/>
          <p:nvPr/>
        </p:nvSpPr>
        <p:spPr>
          <a:xfrm rot="0" flipH="false" flipV="false">
            <a:off x="762000" y="1524000"/>
            <a:ext cx="10668000" cy="1016000"/>
          </a:xfrm>
          <a:prstGeom prst="roundRect">
            <a:avLst>
              <a:gd name="adj" fmla="val 12500"/>
            </a:avLst>
          </a:prstGeom>
          <a:solidFill>
            <a:srgbClr val="003366">
              <a:alpha val="5000"/>
            </a:srgbClr>
          </a:solidFill>
          <a:ln cmpd="sng" cap="flat">
            <a:solidFill>
              <a:srgbClr val="00264D">
                <a:alpha val="5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714500"/>
            <a:ext cx="609600" cy="609600"/>
          </a:xfrm>
          <a:prstGeom prst="rect">
            <a:avLst/>
          </a:prstGeom>
        </p:spPr>
      </p:pic>
      <p:sp>
        <p:nvSpPr>
          <p:cNvPr name="AutoShape 6" id="6"/>
          <p:cNvSpPr/>
          <p:nvPr/>
        </p:nvSpPr>
        <p:spPr>
          <a:xfrm rot="0" flipH="false" flipV="false">
            <a:off x="1778000" y="1651000"/>
            <a:ext cx="939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题型结构固定化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66666"/>
                </a:solidFill>
                <a:latin typeface="Noto Sans SC"/>
                <a:ea typeface="Noto Sans SC"/>
                <a:cs typeface="Noto Sans SC"/>
                <a:sym typeface="Noto Sans SC"/>
              </a:rPr>
              <a:t>分值配比：1道选择题（3分） + 1道主观题（6分） = 共9分，结构稳定，注重基础与能力的结合。</a:t>
            </a:r>
          </a:p>
        </p:txBody>
      </p:sp>
      <p:sp>
        <p:nvSpPr>
          <p:cNvPr name="AutoShape 7" id="7"/>
          <p:cNvSpPr/>
          <p:nvPr/>
        </p:nvSpPr>
        <p:spPr>
          <a:xfrm rot="0" flipH="false" flipV="false">
            <a:off x="762000" y="2794000"/>
            <a:ext cx="10668000" cy="1143000"/>
          </a:xfrm>
          <a:prstGeom prst="roundRect">
            <a:avLst>
              <a:gd name="adj" fmla="val 11111"/>
            </a:avLst>
          </a:prstGeom>
          <a:solidFill>
            <a:srgbClr val="003366">
              <a:alpha val="5000"/>
            </a:srgbClr>
          </a:solidFill>
          <a:ln cmpd="sng" cap="flat">
            <a:solidFill>
              <a:srgbClr val="00264D">
                <a:alpha val="5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060700"/>
            <a:ext cx="609600" cy="609600"/>
          </a:xfrm>
          <a:prstGeom prst="rect">
            <a:avLst/>
          </a:prstGeom>
        </p:spPr>
      </p:pic>
      <p:sp>
        <p:nvSpPr>
          <p:cNvPr name="AutoShape 9" id="9"/>
          <p:cNvSpPr/>
          <p:nvPr/>
        </p:nvSpPr>
        <p:spPr>
          <a:xfrm rot="0" flipH="false" flipV="false">
            <a:off x="1778000" y="2921000"/>
            <a:ext cx="939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选择题考查核心</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66666"/>
                </a:solidFill>
                <a:latin typeface="Noto Sans SC"/>
                <a:ea typeface="Noto Sans SC"/>
                <a:cs typeface="Noto Sans SC"/>
                <a:sym typeface="Noto Sans SC"/>
              </a:rPr>
              <a:t>聚焦四大维度：</a:t>
            </a:r>
            <a:r>
              <a:rPr lang="en-US" b="true" i="false" strike="noStrike" u="none" sz="1400">
                <a:solidFill>
                  <a:srgbClr val="003366"/>
                </a:solidFill>
                <a:latin typeface="Noto Sans SC"/>
                <a:ea typeface="Noto Sans SC"/>
                <a:cs typeface="Noto Sans SC"/>
                <a:sym typeface="Noto Sans SC"/>
              </a:rPr>
              <a:t>内容理解、意象意境、情感判断、手法辨析</a:t>
            </a:r>
            <a:r>
              <a:rPr lang="en-US" b="false" i="false" strike="noStrike" u="none" sz="1400">
                <a:solidFill>
                  <a:srgbClr val="666666"/>
                </a:solidFill>
                <a:latin typeface="Noto Sans SC"/>
                <a:ea typeface="Noto Sans SC"/>
                <a:cs typeface="Noto Sans SC"/>
                <a:sym typeface="Noto Sans SC"/>
              </a:rPr>
              <a:t>。旨在全方位检验学生对诗歌文本的解读能力。</a:t>
            </a:r>
          </a:p>
        </p:txBody>
      </p:sp>
      <p:sp>
        <p:nvSpPr>
          <p:cNvPr name="AutoShape 10" id="10"/>
          <p:cNvSpPr/>
          <p:nvPr/>
        </p:nvSpPr>
        <p:spPr>
          <a:xfrm rot="0" flipH="false" flipV="false">
            <a:off x="762000" y="4191000"/>
            <a:ext cx="10668000" cy="1143000"/>
          </a:xfrm>
          <a:prstGeom prst="roundRect">
            <a:avLst>
              <a:gd name="adj" fmla="val 11111"/>
            </a:avLst>
          </a:prstGeom>
          <a:solidFill>
            <a:srgbClr val="003366">
              <a:alpha val="5000"/>
            </a:srgbClr>
          </a:solidFill>
          <a:ln cmpd="sng" cap="flat">
            <a:solidFill>
              <a:srgbClr val="00264D">
                <a:alpha val="5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457700"/>
            <a:ext cx="609600" cy="609600"/>
          </a:xfrm>
          <a:prstGeom prst="rect">
            <a:avLst/>
          </a:prstGeom>
        </p:spPr>
      </p:pic>
      <p:sp>
        <p:nvSpPr>
          <p:cNvPr name="AutoShape 12" id="12"/>
          <p:cNvSpPr/>
          <p:nvPr/>
        </p:nvSpPr>
        <p:spPr>
          <a:xfrm rot="0" flipH="false" flipV="false">
            <a:off x="1778000" y="4318000"/>
            <a:ext cx="939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常见干扰项设错点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66666"/>
                </a:solidFill>
                <a:latin typeface="Noto Sans SC"/>
                <a:ea typeface="Noto Sans SC"/>
                <a:cs typeface="Noto Sans SC"/>
                <a:sym typeface="Noto Sans SC"/>
              </a:rPr>
              <a:t>易错陷阱提示：</a:t>
            </a:r>
            <a:r>
              <a:rPr lang="en-US" b="true" i="false" strike="noStrike" u="none" sz="1400">
                <a:solidFill>
                  <a:srgbClr val="003366"/>
                </a:solidFill>
                <a:latin typeface="Noto Sans SC"/>
                <a:ea typeface="Noto Sans SC"/>
                <a:cs typeface="Noto Sans SC"/>
                <a:sym typeface="Noto Sans SC"/>
              </a:rPr>
              <a:t>情感曲解、手法误判、细节错位、意境偏差</a:t>
            </a:r>
            <a:r>
              <a:rPr lang="en-US" b="false" i="false" strike="noStrike" u="none" sz="1400">
                <a:solidFill>
                  <a:srgbClr val="666666"/>
                </a:solidFill>
                <a:latin typeface="Noto Sans SC"/>
                <a:ea typeface="Noto Sans SC"/>
                <a:cs typeface="Noto Sans SC"/>
                <a:sym typeface="Noto Sans SC"/>
              </a:rPr>
              <a:t>。需特别注意对诗歌细节和深层含义的准确把握。</a:t>
            </a:r>
          </a:p>
        </p:txBody>
      </p:sp>
      <p:sp>
        <p:nvSpPr>
          <p:cNvPr name="AutoShape 13" id="13"/>
          <p:cNvSpPr/>
          <p:nvPr/>
        </p:nvSpPr>
        <p:spPr>
          <a:xfrm rot="0" flipH="false" flipV="false">
            <a:off x="762000" y="5588000"/>
            <a:ext cx="10668000" cy="889000"/>
          </a:xfrm>
          <a:prstGeom prst="roundRect">
            <a:avLst>
              <a:gd name="adj" fmla="val 14285"/>
            </a:avLst>
          </a:prstGeom>
          <a:solidFill>
            <a:srgbClr val="FF6600">
              <a:alpha val="8000"/>
            </a:srgbClr>
          </a:solidFill>
          <a:ln w="12700" cmpd="sng" cap="flat">
            <a:solidFill>
              <a:srgbClr val="FF6600">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5727700"/>
            <a:ext cx="609600" cy="609600"/>
          </a:xfrm>
          <a:prstGeom prst="rect">
            <a:avLst/>
          </a:prstGeom>
        </p:spPr>
      </p:pic>
      <p:sp>
        <p:nvSpPr>
          <p:cNvPr name="AutoShape 15" id="15"/>
          <p:cNvSpPr/>
          <p:nvPr/>
        </p:nvSpPr>
        <p:spPr>
          <a:xfrm rot="0" flipH="false" flipV="false">
            <a:off x="1778000" y="5651500"/>
            <a:ext cx="939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6600"/>
                </a:solidFill>
                <a:latin typeface="Noto Sans SC"/>
                <a:ea typeface="Noto Sans SC"/>
                <a:cs typeface="Noto Sans SC"/>
                <a:sym typeface="Noto Sans SC"/>
              </a:rPr>
              <a:t>2024 命题创新趋势：逻辑思维考查</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66666"/>
                </a:solidFill>
                <a:latin typeface="Noto Sans SC"/>
                <a:ea typeface="Noto Sans SC"/>
                <a:cs typeface="Noto Sans SC"/>
                <a:sym typeface="Noto Sans SC"/>
              </a:rPr>
              <a:t>全国甲卷首次引入“逻辑缺字题”，要求推断缺字不可能的一项，强化了对逻辑推断能力的考查。</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45212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3366"/>
                </a:solidFill>
                <a:latin typeface="Noto Sans SC"/>
                <a:ea typeface="Noto Sans SC"/>
                <a:cs typeface="Noto Sans SC"/>
                <a:sym typeface="Noto Sans SC"/>
              </a:rPr>
              <a:t>二、命题方法（二）</a:t>
            </a:r>
            <a:endParaRPr lang="en-US" sz="1100"/>
          </a:p>
        </p:txBody>
      </p:sp>
      <p:sp>
        <p:nvSpPr>
          <p:cNvPr name="AutoShape 3" id="3"/>
          <p:cNvSpPr/>
          <p:nvPr/>
        </p:nvSpPr>
        <p:spPr>
          <a:xfrm rot="0" flipH="false" flipV="false">
            <a:off x="762000" y="1270000"/>
            <a:ext cx="762000" cy="50800"/>
          </a:xfrm>
          <a:prstGeom prst="roundRect">
            <a:avLst>
              <a:gd name="adj" fmla="val 0"/>
            </a:avLst>
          </a:prstGeom>
          <a:solidFill>
            <a:srgbClr val="FF660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5207000" cy="1905000"/>
          </a:xfrm>
          <a:prstGeom prst="roundRect">
            <a:avLst>
              <a:gd name="adj" fmla="val 6666"/>
            </a:avLst>
          </a:prstGeom>
          <a:solidFill>
            <a:srgbClr val="003366">
              <a:alpha val="5000"/>
            </a:srgbClr>
          </a:solidFill>
          <a:ln w="12700" cmpd="sng" cap="flat">
            <a:solidFill>
              <a:srgbClr val="003366">
                <a:alpha val="2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841500"/>
            <a:ext cx="304800" cy="304800"/>
          </a:xfrm>
          <a:prstGeom prst="rect">
            <a:avLst/>
          </a:prstGeom>
        </p:spPr>
      </p:pic>
      <p:sp>
        <p:nvSpPr>
          <p:cNvPr name="AutoShape 6" id="6"/>
          <p:cNvSpPr/>
          <p:nvPr/>
        </p:nvSpPr>
        <p:spPr>
          <a:xfrm rot="0" flipH="false" flipV="false">
            <a:off x="1397000" y="1803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主观题命题三大转向</a:t>
            </a:r>
            <a:endParaRPr lang="en-US" sz="1100"/>
          </a:p>
        </p:txBody>
      </p:sp>
      <p:sp>
        <p:nvSpPr>
          <p:cNvPr name="AutoShape 7" id="7"/>
          <p:cNvSpPr/>
          <p:nvPr/>
        </p:nvSpPr>
        <p:spPr>
          <a:xfrm rot="0" flipH="false" flipV="false">
            <a:off x="1016000" y="2222500"/>
            <a:ext cx="4699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666666"/>
                </a:solidFill>
                <a:latin typeface="Noto Sans SC"/>
                <a:ea typeface="Noto Sans SC"/>
                <a:cs typeface="Noto Sans SC"/>
                <a:sym typeface="Noto Sans SC"/>
              </a:rPr>
              <a:t>1. 深度解读：</a:t>
            </a:r>
            <a:r>
              <a:rPr lang="en-US" b="false" i="false" strike="noStrike" u="none" sz="1400">
                <a:solidFill>
                  <a:srgbClr val="666666"/>
                </a:solidFill>
                <a:latin typeface="Noto Sans SC"/>
                <a:ea typeface="Noto Sans SC"/>
                <a:cs typeface="Noto Sans SC"/>
                <a:sym typeface="Noto Sans SC"/>
              </a:rPr>
              <a:t>从知识记忆转向深度解读文本</a:t>
            </a:r>
            <a:r>
              <a:rPr lang="en-US" b="false" i="false" strike="noStrike" u="none" sz="1400">
                <a:solidFill>
                  <a:srgbClr val="666666"/>
                </a:solidFill>
                <a:latin typeface="Noto Sans SC"/>
                <a:ea typeface="Noto Sans SC"/>
                <a:cs typeface="Noto Sans SC"/>
                <a:sym typeface="Noto Sans SC"/>
              </a:rPr>
              <a:t/>
            </a:r>
            <a:endParaRPr lang="en-US" sz="1100"/>
          </a:p>
          <a:p>
            <a:pPr algn="l" indent="0">
              <a:lnSpc>
                <a:spcPct val="108333"/>
              </a:lnSpc>
            </a:pPr>
            <a:r>
              <a:rPr lang="en-US" b="true" i="false" strike="noStrike" u="none" sz="1400">
                <a:solidFill>
                  <a:srgbClr val="666666"/>
                </a:solidFill>
                <a:latin typeface="Noto Sans SC"/>
                <a:ea typeface="Noto Sans SC"/>
                <a:cs typeface="Noto Sans SC"/>
                <a:sym typeface="Noto Sans SC"/>
              </a:rPr>
              <a:t>2. 情境分析：</a:t>
            </a:r>
            <a:r>
              <a:rPr lang="en-US" b="false" i="false" strike="noStrike" u="none" sz="1400">
                <a:solidFill>
                  <a:srgbClr val="666666"/>
                </a:solidFill>
                <a:latin typeface="Noto Sans SC"/>
                <a:ea typeface="Noto Sans SC"/>
                <a:cs typeface="Noto Sans SC"/>
                <a:sym typeface="Noto Sans SC"/>
              </a:rPr>
              <a:t>从套路答题转向具体情境化分析</a:t>
            </a:r>
            <a:r>
              <a:rPr lang="en-US" b="false" i="false" strike="noStrike" u="none" sz="1400">
                <a:solidFill>
                  <a:srgbClr val="666666"/>
                </a:solidFill>
                <a:latin typeface="Noto Sans SC"/>
                <a:ea typeface="Noto Sans SC"/>
                <a:cs typeface="Noto Sans SC"/>
                <a:sym typeface="Noto Sans SC"/>
              </a:rPr>
              <a:t/>
            </a:r>
          </a:p>
          <a:p>
            <a:pPr algn="l" indent="0">
              <a:lnSpc>
                <a:spcPct val="108333"/>
              </a:lnSpc>
            </a:pPr>
            <a:r>
              <a:rPr lang="en-US" b="true" i="false" strike="noStrike" u="none" sz="1400">
                <a:solidFill>
                  <a:srgbClr val="666666"/>
                </a:solidFill>
                <a:latin typeface="Noto Sans SC"/>
                <a:ea typeface="Noto Sans SC"/>
                <a:cs typeface="Noto Sans SC"/>
                <a:sym typeface="Noto Sans SC"/>
              </a:rPr>
              <a:t>3. 融合设问：</a:t>
            </a:r>
            <a:r>
              <a:rPr lang="en-US" b="false" i="false" strike="noStrike" u="none" sz="1400">
                <a:solidFill>
                  <a:srgbClr val="666666"/>
                </a:solidFill>
                <a:latin typeface="Noto Sans SC"/>
                <a:ea typeface="Noto Sans SC"/>
                <a:cs typeface="Noto Sans SC"/>
                <a:sym typeface="Noto Sans SC"/>
              </a:rPr>
              <a:t>从单一考点转向多维度融合设问</a:t>
            </a:r>
          </a:p>
        </p:txBody>
      </p:sp>
      <p:sp>
        <p:nvSpPr>
          <p:cNvPr name="AutoShape 8" id="8"/>
          <p:cNvSpPr/>
          <p:nvPr/>
        </p:nvSpPr>
        <p:spPr>
          <a:xfrm rot="0" flipH="false" flipV="false">
            <a:off x="762000" y="3810000"/>
            <a:ext cx="5207000" cy="1524000"/>
          </a:xfrm>
          <a:prstGeom prst="roundRect">
            <a:avLst>
              <a:gd name="adj" fmla="val 8333"/>
            </a:avLst>
          </a:prstGeom>
          <a:solidFill>
            <a:srgbClr val="003366">
              <a:alpha val="5000"/>
            </a:srgbClr>
          </a:solidFill>
          <a:ln w="12700" cmpd="sng" cap="flat">
            <a:solidFill>
              <a:srgbClr val="003366">
                <a:alpha val="2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4000500"/>
            <a:ext cx="304800" cy="304800"/>
          </a:xfrm>
          <a:prstGeom prst="rect">
            <a:avLst/>
          </a:prstGeom>
        </p:spPr>
      </p:pic>
      <p:sp>
        <p:nvSpPr>
          <p:cNvPr name="AutoShape 10" id="10"/>
          <p:cNvSpPr/>
          <p:nvPr/>
        </p:nvSpPr>
        <p:spPr>
          <a:xfrm rot="0" flipH="false" flipV="false">
            <a:off x="1397000" y="3962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教考衔接的创新实践</a:t>
            </a:r>
            <a:endParaRPr lang="en-US" sz="1100"/>
          </a:p>
        </p:txBody>
      </p:sp>
      <p:sp>
        <p:nvSpPr>
          <p:cNvPr name="AutoShape 11" id="11"/>
          <p:cNvSpPr/>
          <p:nvPr/>
        </p:nvSpPr>
        <p:spPr>
          <a:xfrm rot="0" flipH="false" flipV="false">
            <a:off x="1016000" y="43815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666666"/>
                </a:solidFill>
                <a:latin typeface="Noto Sans SC"/>
                <a:ea typeface="Noto Sans SC"/>
                <a:cs typeface="Noto Sans SC"/>
                <a:sym typeface="Noto Sans SC"/>
              </a:rPr>
              <a:t>加强与教材的深度关联，包括实词用法、典故出处及篇目主旨，引导学生回归教材，落实“教考衔接”理念。</a:t>
            </a:r>
            <a:endParaRPr lang="en-US" sz="1100"/>
          </a:p>
        </p:txBody>
      </p:sp>
      <p:graphicFrame>
        <p:nvGraphicFramePr>
          <p:cNvPr name="Table 12" id="12"/>
          <p:cNvGraphicFramePr>
            <a:graphicFrameLocks noGrp="true"/>
          </p:cNvGraphicFramePr>
          <p:nvPr/>
        </p:nvGraphicFramePr>
        <p:xfrm>
          <a:off x="6350000" y="1651000"/>
          <a:ext cx="4318000" cy="3302000"/>
        </p:xfrm>
        <a:graphic>
          <a:graphicData uri="http://schemas.openxmlformats.org/drawingml/2006/table">
            <a:tbl>
              <a:tblPr>
                <a:effectLst/>
              </a:tblPr>
              <a:tblGrid>
                <a:gridCol w="1397000"/>
                <a:gridCol w="2921000"/>
              </a:tblGrid>
              <a:tr h="508000">
                <a:tc>
                  <a:txBody>
                    <a:bodyPr anchor="t" rtlCol="false"/>
                    <a:lstStyle/>
                    <a:p>
                      <a:pPr algn="ctr" indent="0">
                        <a:lnSpc>
                          <a:spcPct val="100000"/>
                        </a:lnSpc>
                        <a:defRPr/>
                      </a:pPr>
                      <a:r>
                        <a:rPr lang="en-US" b="true" i="false" strike="noStrike" u="none" sz="1600">
                          <a:solidFill>
                            <a:srgbClr val="FFFFFF"/>
                          </a:solidFill>
                          <a:latin typeface="Noto Sans SC"/>
                          <a:ea typeface="Noto Sans SC"/>
                          <a:cs typeface="Noto Sans SC"/>
                          <a:sym typeface="Noto Sans SC"/>
                        </a:rPr>
                        <a:t>考察方面</a:t>
                      </a:r>
                      <a:endParaRPr lang="en-US" sz="1100"/>
                    </a:p>
                  </a:txBody>
                  <a:tcPr anchor="ctr" anchorCtr="false" marL="101600" marR="101600" marT="101600" marB="101600">
                    <a:lnL>
                      <a:noFill/>
                    </a:lnL>
                    <a:lnR>
                      <a:noFill/>
                    </a:lnR>
                    <a:lnT>
                      <a:noFill/>
                    </a:lnT>
                    <a:lnB>
                      <a:noFill/>
                    </a:lnB>
                    <a:solidFill>
                      <a:srgbClr val="003366">
                        <a:alpha val="100000"/>
                      </a:srgbClr>
                    </a:solidFill>
                  </a:tcPr>
                </a:tc>
                <a:tc>
                  <a:txBody>
                    <a:bodyPr anchor="t" rtlCol="false"/>
                    <a:lstStyle/>
                    <a:p>
                      <a:pPr algn="ctr" indent="0">
                        <a:lnSpc>
                          <a:spcPct val="100000"/>
                        </a:lnSpc>
                        <a:defRPr/>
                      </a:pPr>
                      <a:r>
                        <a:rPr lang="en-US" b="true" i="false" strike="noStrike" u="none" sz="1600">
                          <a:solidFill>
                            <a:srgbClr val="FFFFFF"/>
                          </a:solidFill>
                          <a:latin typeface="Noto Sans SC"/>
                          <a:ea typeface="Noto Sans SC"/>
                          <a:cs typeface="Noto Sans SC"/>
                          <a:sym typeface="Noto Sans SC"/>
                        </a:rPr>
                        <a:t>核心特征与趋势</a:t>
                      </a:r>
                      <a:endParaRPr lang="en-US" sz="1100"/>
                    </a:p>
                  </a:txBody>
                  <a:tcPr anchor="ctr" anchorCtr="false" marL="101600" marR="101600" marT="101600" marB="101600">
                    <a:lnL>
                      <a:noFill/>
                    </a:lnL>
                    <a:lnR>
                      <a:noFill/>
                    </a:lnR>
                    <a:lnT>
                      <a:noFill/>
                    </a:lnT>
                    <a:lnB>
                      <a:noFill/>
                    </a:lnB>
                    <a:solidFill>
                      <a:srgbClr val="003366">
                        <a:alpha val="100000"/>
                      </a:srgbClr>
                    </a:solidFill>
                  </a:tcPr>
                </a:tc>
              </a:tr>
              <a:tr h="635000">
                <a:tc>
                  <a:txBody>
                    <a:bodyPr anchor="t" rtlCol="false"/>
                    <a:lstStyle/>
                    <a:p>
                      <a:pPr algn="ctr" indent="0">
                        <a:lnSpc>
                          <a:spcPct val="100000"/>
                        </a:lnSpc>
                        <a:defRPr/>
                      </a:pPr>
                      <a:r>
                        <a:rPr lang="en-US" b="true" i="false" strike="noStrike" u="none" sz="1400">
                          <a:solidFill>
                            <a:srgbClr val="003366"/>
                          </a:solidFill>
                          <a:latin typeface="Noto Sans SC"/>
                          <a:ea typeface="Noto Sans SC"/>
                          <a:cs typeface="Noto Sans SC"/>
                          <a:sym typeface="Noto Sans SC"/>
                        </a:rPr>
                        <a:t>题型结构</a:t>
                      </a:r>
                      <a:endParaRPr lang="en-US" sz="1100"/>
                    </a:p>
                  </a:txBody>
                  <a:tcPr anchor="ctr" anchorCtr="false" marL="101600" marR="101600" marT="101600" marB="101600">
                    <a:lnL>
                      <a:noFill/>
                    </a:lnL>
                    <a:lnR>
                      <a:noFill/>
                    </a:lnR>
                    <a:lnT>
                      <a:noFill/>
                    </a:lnT>
                    <a:lnB>
                      <a:noFill/>
                    </a:lnB>
                    <a:solidFill>
                      <a:srgbClr val="003366">
                        <a:alpha val="5000"/>
                      </a:srgbClr>
                    </a:solidFill>
                  </a:tcPr>
                </a:tc>
                <a:tc>
                  <a:txBody>
                    <a:bodyPr anchor="t" rtlCol="false"/>
                    <a:lstStyle/>
                    <a:p>
                      <a:pPr algn="l" indent="0" marL="127000">
                        <a:lnSpc>
                          <a:spcPct val="100000"/>
                        </a:lnSpc>
                        <a:defRPr/>
                      </a:pPr>
                      <a:r>
                        <a:rPr lang="en-US" b="false" i="false" strike="noStrike" u="none" sz="1400">
                          <a:solidFill>
                            <a:srgbClr val="666666"/>
                          </a:solidFill>
                          <a:latin typeface="Noto Sans SC"/>
                          <a:ea typeface="Noto Sans SC"/>
                          <a:cs typeface="Noto Sans SC"/>
                          <a:sym typeface="Noto Sans SC"/>
                        </a:rPr>
                        <a:t>1选择 + 1主观，共9分</a:t>
                      </a:r>
                      <a:endParaRPr lang="en-US" sz="1100"/>
                    </a:p>
                  </a:txBody>
                  <a:tcPr anchor="ctr" anchorCtr="false" marL="101600" marR="101600" marT="101600" marB="101600">
                    <a:lnL>
                      <a:noFill/>
                    </a:lnL>
                    <a:lnR>
                      <a:noFill/>
                    </a:lnR>
                    <a:lnT>
                      <a:noFill/>
                    </a:lnT>
                    <a:lnB>
                      <a:noFill/>
                    </a:lnB>
                    <a:solidFill>
                      <a:srgbClr val="003366">
                        <a:alpha val="5000"/>
                      </a:srgbClr>
                    </a:solidFill>
                  </a:tcPr>
                </a:tc>
              </a:tr>
              <a:tr h="762000">
                <a:tc>
                  <a:txBody>
                    <a:bodyPr anchor="t" rtlCol="false"/>
                    <a:lstStyle/>
                    <a:p>
                      <a:pPr algn="ctr" indent="0">
                        <a:lnSpc>
                          <a:spcPct val="100000"/>
                        </a:lnSpc>
                        <a:defRPr/>
                      </a:pPr>
                      <a:r>
                        <a:rPr lang="en-US" b="true" i="false" strike="noStrike" u="none" sz="1400">
                          <a:solidFill>
                            <a:srgbClr val="003366"/>
                          </a:solidFill>
                          <a:latin typeface="Noto Sans SC"/>
                          <a:ea typeface="Noto Sans SC"/>
                          <a:cs typeface="Noto Sans SC"/>
                          <a:sym typeface="Noto Sans SC"/>
                        </a:rPr>
                        <a:t>选择题</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l" indent="0" marL="127000">
                        <a:lnSpc>
                          <a:spcPct val="100000"/>
                        </a:lnSpc>
                        <a:defRPr/>
                      </a:pPr>
                      <a:r>
                        <a:rPr lang="en-US" b="false" i="false" strike="noStrike" u="none" sz="1400">
                          <a:solidFill>
                            <a:srgbClr val="666666"/>
                          </a:solidFill>
                          <a:latin typeface="Noto Sans SC"/>
                          <a:ea typeface="Noto Sans SC"/>
                          <a:cs typeface="Noto Sans SC"/>
                          <a:sym typeface="Noto Sans SC"/>
                        </a:rPr>
                        <a:t>侧重理解与手法，2024年首现</a:t>
                      </a:r>
                      <a:r>
                        <a:rPr lang="en-US" b="true" i="false" strike="noStrike" u="none" sz="1400">
                          <a:solidFill>
                            <a:srgbClr val="FF6600"/>
                          </a:solidFill>
                          <a:latin typeface="Noto Sans SC"/>
                          <a:ea typeface="Noto Sans SC"/>
                          <a:cs typeface="Noto Sans SC"/>
                          <a:sym typeface="Noto Sans SC"/>
                        </a:rPr>
                        <a:t>逻辑缺字题</a:t>
                      </a:r>
                      <a:endParaRPr lang="en-US" sz="1100"/>
                    </a:p>
                  </a:txBody>
                  <a:tcPr anchor="ctr" anchorCtr="false" marL="101600" marR="101600" marT="101600" marB="101600">
                    <a:lnL>
                      <a:noFill/>
                    </a:lnL>
                    <a:lnR>
                      <a:noFill/>
                    </a:lnR>
                    <a:lnT>
                      <a:noFill/>
                    </a:lnT>
                    <a:lnB>
                      <a:noFill/>
                    </a:lnB>
                    <a:solidFill>
                      <a:srgbClr val="FFFFFF">
                        <a:alpha val="100000"/>
                      </a:srgbClr>
                    </a:solidFill>
                  </a:tcPr>
                </a:tc>
              </a:tr>
              <a:tr h="762000">
                <a:tc>
                  <a:txBody>
                    <a:bodyPr anchor="t" rtlCol="false"/>
                    <a:lstStyle/>
                    <a:p>
                      <a:pPr algn="ctr" indent="0">
                        <a:lnSpc>
                          <a:spcPct val="100000"/>
                        </a:lnSpc>
                        <a:defRPr/>
                      </a:pPr>
                      <a:r>
                        <a:rPr lang="en-US" b="true" i="false" strike="noStrike" u="none" sz="1400">
                          <a:solidFill>
                            <a:srgbClr val="003366"/>
                          </a:solidFill>
                          <a:latin typeface="Noto Sans SC"/>
                          <a:ea typeface="Noto Sans SC"/>
                          <a:cs typeface="Noto Sans SC"/>
                          <a:sym typeface="Noto Sans SC"/>
                        </a:rPr>
                        <a:t>主观题</a:t>
                      </a:r>
                      <a:endParaRPr lang="en-US" sz="1100"/>
                    </a:p>
                  </a:txBody>
                  <a:tcPr anchor="ctr" anchorCtr="false" marL="101600" marR="101600" marT="101600" marB="101600">
                    <a:lnL>
                      <a:noFill/>
                    </a:lnL>
                    <a:lnR>
                      <a:noFill/>
                    </a:lnR>
                    <a:lnT>
                      <a:noFill/>
                    </a:lnT>
                    <a:lnB>
                      <a:noFill/>
                    </a:lnB>
                    <a:solidFill>
                      <a:srgbClr val="003366">
                        <a:alpha val="5000"/>
                      </a:srgbClr>
                    </a:solidFill>
                  </a:tcPr>
                </a:tc>
                <a:tc>
                  <a:txBody>
                    <a:bodyPr anchor="t" rtlCol="false"/>
                    <a:lstStyle/>
                    <a:p>
                      <a:pPr algn="l" indent="0" marL="127000">
                        <a:lnSpc>
                          <a:spcPct val="100000"/>
                        </a:lnSpc>
                        <a:defRPr/>
                      </a:pPr>
                      <a:r>
                        <a:rPr lang="en-US" b="false" i="false" strike="noStrike" u="none" sz="1400">
                          <a:solidFill>
                            <a:srgbClr val="666666"/>
                          </a:solidFill>
                          <a:latin typeface="Noto Sans SC"/>
                          <a:ea typeface="Noto Sans SC"/>
                          <a:cs typeface="Noto Sans SC"/>
                          <a:sym typeface="Noto Sans SC"/>
                        </a:rPr>
                        <a:t>融合设问，比较鉴赏、关联式命题、诗评题成趋势</a:t>
                      </a:r>
                      <a:endParaRPr lang="en-US" sz="1100"/>
                    </a:p>
                  </a:txBody>
                  <a:tcPr anchor="ctr" anchorCtr="false" marL="101600" marR="101600" marT="101600" marB="101600">
                    <a:lnL>
                      <a:noFill/>
                    </a:lnL>
                    <a:lnR>
                      <a:noFill/>
                    </a:lnR>
                    <a:lnT>
                      <a:noFill/>
                    </a:lnT>
                    <a:lnB>
                      <a:noFill/>
                    </a:lnB>
                    <a:solidFill>
                      <a:srgbClr val="003366">
                        <a:alpha val="5000"/>
                      </a:srgbClr>
                    </a:solidFill>
                  </a:tcPr>
                </a:tc>
              </a:tr>
              <a:tr h="635000">
                <a:tc>
                  <a:txBody>
                    <a:bodyPr anchor="t" rtlCol="false"/>
                    <a:lstStyle/>
                    <a:p>
                      <a:pPr algn="ctr" indent="0">
                        <a:lnSpc>
                          <a:spcPct val="100000"/>
                        </a:lnSpc>
                        <a:defRPr/>
                      </a:pPr>
                      <a:r>
                        <a:rPr lang="en-US" b="true" i="false" strike="noStrike" u="none" sz="1400">
                          <a:solidFill>
                            <a:srgbClr val="003366"/>
                          </a:solidFill>
                          <a:latin typeface="Noto Sans SC"/>
                          <a:ea typeface="Noto Sans SC"/>
                          <a:cs typeface="Noto Sans SC"/>
                          <a:sym typeface="Noto Sans SC"/>
                        </a:rPr>
                        <a:t>教考衔接</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l" indent="0" marL="127000">
                        <a:lnSpc>
                          <a:spcPct val="100000"/>
                        </a:lnSpc>
                        <a:defRPr/>
                      </a:pPr>
                      <a:r>
                        <a:rPr lang="en-US" b="false" i="false" strike="noStrike" u="none" sz="1400">
                          <a:solidFill>
                            <a:srgbClr val="666666"/>
                          </a:solidFill>
                          <a:latin typeface="Noto Sans SC"/>
                          <a:ea typeface="Noto Sans SC"/>
                          <a:cs typeface="Noto Sans SC"/>
                          <a:sym typeface="Noto Sans SC"/>
                        </a:rPr>
                        <a:t>关联教材篇目、实词、典故力度加大</a:t>
                      </a:r>
                      <a:endParaRPr lang="en-US" sz="1100"/>
                    </a:p>
                  </a:txBody>
                  <a:tcPr anchor="ctr" anchorCtr="false" marL="101600" marR="101600" marT="101600" marB="101600">
                    <a:lnL>
                      <a:noFill/>
                    </a:lnL>
                    <a:lnR>
                      <a:noFill/>
                    </a:lnR>
                    <a:lnT>
                      <a:noFill/>
                    </a:lnT>
                    <a:lnB>
                      <a:noFill/>
                    </a:lnB>
                    <a:solidFill>
                      <a:srgbClr val="FFFFFF">
                        <a:alpha val="100000"/>
                      </a:srgbClr>
                    </a:solidFill>
                  </a:tcPr>
                </a:tc>
              </a:tr>
            </a:tbl>
          </a:graphicData>
        </a:graphic>
      </p:graphicFrame>
      <p:sp>
        <p:nvSpPr>
          <p:cNvPr name="AutoShape 13" id="13"/>
          <p:cNvSpPr/>
          <p:nvPr/>
        </p:nvSpPr>
        <p:spPr>
          <a:xfrm rot="0" flipH="false" flipV="false">
            <a:off x="762000" y="5588000"/>
            <a:ext cx="1066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400">
                <a:solidFill>
                  <a:srgbClr val="666666"/>
                </a:solidFill>
                <a:latin typeface="Noto Sans SC"/>
                <a:ea typeface="Noto Sans SC"/>
                <a:cs typeface="Noto Sans SC"/>
                <a:sym typeface="Noto Sans SC"/>
              </a:rPr>
              <a:t>总结：命题趋势正从“知识本位”向“素养本位”转变，强调在真实情境中解决问题的能力。</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30226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3366"/>
                </a:solidFill>
                <a:latin typeface="Noto Sans SC"/>
                <a:ea typeface="Noto Sans SC"/>
                <a:cs typeface="Noto Sans SC"/>
                <a:sym typeface="Noto Sans SC"/>
              </a:rPr>
              <a:t>三、审题必备</a:t>
            </a:r>
            <a:endParaRPr lang="en-US" sz="1100"/>
          </a:p>
        </p:txBody>
      </p:sp>
      <p:sp>
        <p:nvSpPr>
          <p:cNvPr name="AutoShape 3" id="3"/>
          <p:cNvSpPr/>
          <p:nvPr/>
        </p:nvSpPr>
        <p:spPr>
          <a:xfrm rot="0" flipH="false" flipV="false">
            <a:off x="762000" y="1270000"/>
            <a:ext cx="762000" cy="50800"/>
          </a:xfrm>
          <a:prstGeom prst="roundRect">
            <a:avLst>
              <a:gd name="adj" fmla="val 0"/>
            </a:avLst>
          </a:prstGeom>
          <a:solidFill>
            <a:srgbClr val="FF660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5080000" cy="1143000"/>
          </a:xfrm>
          <a:prstGeom prst="roundRect">
            <a:avLst>
              <a:gd name="adj" fmla="val 11111"/>
            </a:avLst>
          </a:prstGeom>
          <a:solidFill>
            <a:srgbClr val="003366">
              <a:alpha val="5000"/>
            </a:srgbClr>
          </a:solidFill>
          <a:ln w="12700" cmpd="sng" cap="flat">
            <a:solidFill>
              <a:srgbClr val="003366">
                <a:alpha val="1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968500"/>
            <a:ext cx="406400" cy="406400"/>
          </a:xfrm>
          <a:prstGeom prst="rect">
            <a:avLst/>
          </a:prstGeom>
        </p:spPr>
      </p:pic>
      <p:sp>
        <p:nvSpPr>
          <p:cNvPr name="AutoShape 6" id="6"/>
          <p:cNvSpPr/>
          <p:nvPr/>
        </p:nvSpPr>
        <p:spPr>
          <a:xfrm rot="0" flipH="false" flipV="false">
            <a:off x="1524000" y="17780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读诗“五读”法</a:t>
            </a:r>
            <a:endParaRPr lang="en-US" sz="1100"/>
          </a:p>
        </p:txBody>
      </p:sp>
      <p:sp>
        <p:nvSpPr>
          <p:cNvPr name="AutoShape 7" id="7"/>
          <p:cNvSpPr/>
          <p:nvPr/>
        </p:nvSpPr>
        <p:spPr>
          <a:xfrm rot="0" flipH="false" flipV="false">
            <a:off x="1524000" y="21336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读题目 · 读作者 · 读内容 · 读注释 · 读命题</a:t>
            </a:r>
            <a:endParaRPr lang="en-US" sz="1100"/>
          </a:p>
        </p:txBody>
      </p:sp>
      <p:sp>
        <p:nvSpPr>
          <p:cNvPr name="AutoShape 8" id="8"/>
          <p:cNvSpPr/>
          <p:nvPr/>
        </p:nvSpPr>
        <p:spPr>
          <a:xfrm rot="0" flipH="false" flipV="false">
            <a:off x="762000" y="2984500"/>
            <a:ext cx="5080000" cy="1143000"/>
          </a:xfrm>
          <a:prstGeom prst="roundRect">
            <a:avLst>
              <a:gd name="adj" fmla="val 11111"/>
            </a:avLst>
          </a:prstGeom>
          <a:solidFill>
            <a:srgbClr val="003366">
              <a:alpha val="5000"/>
            </a:srgbClr>
          </a:solidFill>
          <a:ln w="12700" cmpd="sng" cap="flat">
            <a:solidFill>
              <a:srgbClr val="003366">
                <a:alpha val="1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302000"/>
            <a:ext cx="406400" cy="406400"/>
          </a:xfrm>
          <a:prstGeom prst="rect">
            <a:avLst/>
          </a:prstGeom>
        </p:spPr>
      </p:pic>
      <p:sp>
        <p:nvSpPr>
          <p:cNvPr name="AutoShape 10" id="10"/>
          <p:cNvSpPr/>
          <p:nvPr/>
        </p:nvSpPr>
        <p:spPr>
          <a:xfrm rot="0" flipH="false" flipV="false">
            <a:off x="1524000" y="31115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选择题审题要领</a:t>
            </a:r>
            <a:endParaRPr lang="en-US" sz="1100"/>
          </a:p>
        </p:txBody>
      </p:sp>
      <p:sp>
        <p:nvSpPr>
          <p:cNvPr name="AutoShape 11" id="11"/>
          <p:cNvSpPr/>
          <p:nvPr/>
        </p:nvSpPr>
        <p:spPr>
          <a:xfrm rot="0" flipH="false" flipV="false">
            <a:off x="1524000" y="34671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逐项比对 · 警惕“高敏词陷阱” · 逆向排除 · 关注注释</a:t>
            </a:r>
            <a:endParaRPr lang="en-US" sz="1100"/>
          </a:p>
        </p:txBody>
      </p:sp>
      <p:sp>
        <p:nvSpPr>
          <p:cNvPr name="AutoShape 12" id="12"/>
          <p:cNvSpPr/>
          <p:nvPr/>
        </p:nvSpPr>
        <p:spPr>
          <a:xfrm rot="0" flipH="false" flipV="false">
            <a:off x="762000" y="4318000"/>
            <a:ext cx="5080000" cy="1143000"/>
          </a:xfrm>
          <a:prstGeom prst="roundRect">
            <a:avLst>
              <a:gd name="adj" fmla="val 11111"/>
            </a:avLst>
          </a:prstGeom>
          <a:solidFill>
            <a:srgbClr val="003366">
              <a:alpha val="5000"/>
            </a:srgbClr>
          </a:solidFill>
          <a:ln w="12700" cmpd="sng" cap="flat">
            <a:solidFill>
              <a:srgbClr val="003366">
                <a:alpha val="1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635500"/>
            <a:ext cx="406400" cy="406400"/>
          </a:xfrm>
          <a:prstGeom prst="rect">
            <a:avLst/>
          </a:prstGeom>
        </p:spPr>
      </p:pic>
      <p:sp>
        <p:nvSpPr>
          <p:cNvPr name="AutoShape 14" id="14"/>
          <p:cNvSpPr/>
          <p:nvPr/>
        </p:nvSpPr>
        <p:spPr>
          <a:xfrm rot="0" flipH="false" flipV="false">
            <a:off x="1524000" y="44450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主观题审题（三步定位）</a:t>
            </a:r>
            <a:endParaRPr lang="en-US" sz="1100"/>
          </a:p>
        </p:txBody>
      </p:sp>
      <p:sp>
        <p:nvSpPr>
          <p:cNvPr name="AutoShape 15" id="15"/>
          <p:cNvSpPr/>
          <p:nvPr/>
        </p:nvSpPr>
        <p:spPr>
          <a:xfrm rot="0" flipH="false" flipV="false">
            <a:off x="1524000" y="48006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读懂题意 · 找准角度 · 把握层次</a:t>
            </a:r>
            <a:endParaRPr lang="en-US" sz="1100"/>
          </a:p>
        </p:txBody>
      </p:sp>
      <p:sp>
        <p:nvSpPr>
          <p:cNvPr name="AutoShape 16" id="16"/>
          <p:cNvSpPr/>
          <p:nvPr/>
        </p:nvSpPr>
        <p:spPr>
          <a:xfrm rot="0" flipH="false" flipV="false">
            <a:off x="6350000" y="1651000"/>
            <a:ext cx="508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不同题型审题要点速查</a:t>
            </a:r>
            <a:endParaRPr lang="en-US" sz="1100"/>
          </a:p>
        </p:txBody>
      </p:sp>
      <p:graphicFrame>
        <p:nvGraphicFramePr>
          <p:cNvPr name="Table 17" id="17"/>
          <p:cNvGraphicFramePr>
            <a:graphicFrameLocks noGrp="true"/>
          </p:cNvGraphicFramePr>
          <p:nvPr/>
        </p:nvGraphicFramePr>
        <p:xfrm>
          <a:off x="6350000" y="2095500"/>
          <a:ext cx="5080000" cy="3124200"/>
        </p:xfrm>
        <a:graphic>
          <a:graphicData uri="http://schemas.openxmlformats.org/drawingml/2006/table">
            <a:tbl>
              <a:tblPr>
                <a:effectLst/>
              </a:tblPr>
              <a:tblGrid>
                <a:gridCol w="1524000"/>
                <a:gridCol w="3556000"/>
              </a:tblGrid>
              <a:tr h="457200">
                <a:tc>
                  <a:txBody>
                    <a:bodyPr anchor="t" rtlCol="false"/>
                    <a:lstStyle/>
                    <a:p>
                      <a:pPr algn="ctr" indent="0">
                        <a:lnSpc>
                          <a:spcPct val="100000"/>
                        </a:lnSpc>
                        <a:defRPr/>
                      </a:pPr>
                      <a:r>
                        <a:rPr lang="en-US" b="true" i="false" strike="noStrike" u="none" sz="1400">
                          <a:solidFill>
                            <a:srgbClr val="FFFFFF"/>
                          </a:solidFill>
                          <a:latin typeface="Noto Sans SC"/>
                          <a:ea typeface="Noto Sans SC"/>
                          <a:cs typeface="Noto Sans SC"/>
                          <a:sym typeface="Noto Sans SC"/>
                        </a:rPr>
                        <a:t>题干类型</a:t>
                      </a:r>
                      <a:endParaRPr lang="en-US" sz="1100"/>
                    </a:p>
                  </a:txBody>
                  <a:tcPr anchor="ctr" anchorCtr="false" marL="101600" marR="101600" marT="101600" marB="101600">
                    <a:lnL>
                      <a:noFill/>
                    </a:lnL>
                    <a:lnR>
                      <a:noFill/>
                    </a:lnR>
                    <a:lnT>
                      <a:noFill/>
                    </a:lnT>
                    <a:lnB>
                      <a:noFill/>
                    </a:lnB>
                    <a:solidFill>
                      <a:srgbClr val="003366">
                        <a:alpha val="100000"/>
                      </a:srgbClr>
                    </a:solidFill>
                  </a:tcPr>
                </a:tc>
                <a:tc>
                  <a:txBody>
                    <a:bodyPr anchor="t" rtlCol="false"/>
                    <a:lstStyle/>
                    <a:p>
                      <a:pPr algn="ctr" indent="0">
                        <a:lnSpc>
                          <a:spcPct val="100000"/>
                        </a:lnSpc>
                        <a:defRPr/>
                      </a:pPr>
                      <a:r>
                        <a:rPr lang="en-US" b="true" i="false" strike="noStrike" u="none" sz="1400">
                          <a:solidFill>
                            <a:srgbClr val="FFFFFF"/>
                          </a:solidFill>
                          <a:latin typeface="Noto Sans SC"/>
                          <a:ea typeface="Noto Sans SC"/>
                          <a:cs typeface="Noto Sans SC"/>
                          <a:sym typeface="Noto Sans SC"/>
                        </a:rPr>
                        <a:t>审题要点</a:t>
                      </a:r>
                      <a:endParaRPr lang="en-US" sz="1100"/>
                    </a:p>
                  </a:txBody>
                  <a:tcPr anchor="ctr" anchorCtr="false" marL="101600" marR="101600" marT="101600" marB="101600">
                    <a:lnL>
                      <a:noFill/>
                    </a:lnL>
                    <a:lnR>
                      <a:noFill/>
                    </a:lnR>
                    <a:lnT>
                      <a:noFill/>
                    </a:lnT>
                    <a:lnB>
                      <a:noFill/>
                    </a:lnB>
                    <a:solidFill>
                      <a:srgbClr val="003366">
                        <a:alpha val="100000"/>
                      </a:srgbClr>
                    </a:solidFill>
                  </a:tcPr>
                </a:tc>
              </a:tr>
              <a:tr h="533400">
                <a:tc>
                  <a:txBody>
                    <a:bodyPr anchor="t" rtlCol="false"/>
                    <a:lstStyle/>
                    <a:p>
                      <a:pPr algn="ctr" indent="0">
                        <a:lnSpc>
                          <a:spcPct val="100000"/>
                        </a:lnSpc>
                        <a:defRPr/>
                      </a:pPr>
                      <a:r>
                        <a:rPr lang="en-US" b="false" i="false" strike="noStrike" u="none" sz="1300">
                          <a:solidFill>
                            <a:srgbClr val="333333"/>
                          </a:solidFill>
                          <a:latin typeface="Noto Sans SC"/>
                          <a:ea typeface="Noto Sans SC"/>
                          <a:cs typeface="Noto Sans SC"/>
                          <a:sym typeface="Noto Sans SC"/>
                        </a:rPr>
                        <a:t>比较鉴赏</a:t>
                      </a:r>
                      <a:endParaRPr lang="en-US" sz="1100"/>
                    </a:p>
                  </a:txBody>
                  <a:tcPr anchor="ctr" anchorCtr="false" marL="101600" marR="101600" marT="101600" marB="101600">
                    <a:lnL>
                      <a:noFill/>
                    </a:lnL>
                    <a:lnR>
                      <a:noFill/>
                    </a:lnR>
                    <a:lnT>
                      <a:noFill/>
                    </a:lnT>
                    <a:lnB cmpd="sng" algn="ctr" cap="flat" w="12700">
                      <a:solidFill>
                        <a:srgbClr val="003366"/>
                      </a:solidFill>
                      <a:prstDash val="solid"/>
                      <a:round/>
                      <a:headEnd type="none" w="med" len="med"/>
                      <a:tailEnd type="none" w="med" len="med"/>
                    </a:lnB>
                    <a:solidFill>
                      <a:srgbClr val="003366">
                        <a:alpha val="5000"/>
                      </a:srgbClr>
                    </a:solidFill>
                  </a:tcPr>
                </a:tc>
                <a:tc>
                  <a:txBody>
                    <a:bodyPr anchor="t" rtlCol="false"/>
                    <a:lstStyle/>
                    <a:p>
                      <a:pPr algn="ctr" indent="0">
                        <a:lnSpc>
                          <a:spcPct val="100000"/>
                        </a:lnSpc>
                        <a:defRPr/>
                      </a:pPr>
                      <a:r>
                        <a:rPr lang="en-US" b="false" i="false" strike="noStrike" u="none" sz="1300">
                          <a:solidFill>
                            <a:srgbClr val="333333"/>
                          </a:solidFill>
                          <a:latin typeface="Noto Sans SC"/>
                          <a:ea typeface="Noto Sans SC"/>
                          <a:cs typeface="Noto Sans SC"/>
                          <a:sym typeface="Noto Sans SC"/>
                        </a:rPr>
                        <a:t>明确比较对象和维度（情感/手法/作用）</a:t>
                      </a:r>
                      <a:endParaRPr lang="en-US" sz="1100"/>
                    </a:p>
                  </a:txBody>
                  <a:tcPr anchor="ctr" anchorCtr="false" marL="101600" marR="101600" marT="101600" marB="101600">
                    <a:lnL>
                      <a:noFill/>
                    </a:lnL>
                    <a:lnR>
                      <a:noFill/>
                    </a:lnR>
                    <a:lnT>
                      <a:noFill/>
                    </a:lnT>
                    <a:lnB cmpd="sng" algn="ctr" cap="flat" w="12700">
                      <a:solidFill>
                        <a:srgbClr val="003366"/>
                      </a:solidFill>
                      <a:prstDash val="solid"/>
                      <a:round/>
                      <a:headEnd type="none" w="med" len="med"/>
                      <a:tailEnd type="none" w="med" len="med"/>
                    </a:lnB>
                    <a:solidFill>
                      <a:srgbClr val="003366">
                        <a:alpha val="5000"/>
                      </a:srgbClr>
                    </a:solidFill>
                  </a:tcPr>
                </a:tc>
              </a:tr>
              <a:tr h="533400">
                <a:tc>
                  <a:txBody>
                    <a:bodyPr anchor="t" rtlCol="false"/>
                    <a:lstStyle/>
                    <a:p>
                      <a:pPr algn="ctr" indent="0">
                        <a:lnSpc>
                          <a:spcPct val="100000"/>
                        </a:lnSpc>
                        <a:defRPr/>
                      </a:pPr>
                      <a:r>
                        <a:rPr lang="en-US" b="false" i="false" strike="noStrike" u="none" sz="1300">
                          <a:solidFill>
                            <a:srgbClr val="333333"/>
                          </a:solidFill>
                          <a:latin typeface="Noto Sans SC"/>
                          <a:ea typeface="Noto Sans SC"/>
                          <a:cs typeface="Noto Sans SC"/>
                          <a:sym typeface="Noto Sans SC"/>
                        </a:rPr>
                        <a:t>关联式命题</a:t>
                      </a:r>
                      <a:endParaRPr lang="en-US" sz="1100"/>
                    </a:p>
                  </a:txBody>
                  <a:tcPr anchor="ctr" anchorCtr="false" marL="101600" marR="101600" marT="101600" marB="101600">
                    <a:lnL>
                      <a:noFill/>
                    </a:lnL>
                    <a:lnR>
                      <a:noFill/>
                    </a:lnR>
                    <a:lnT cmpd="sng" algn="ctr" cap="flat" w="12700">
                      <a:solidFill>
                        <a:srgbClr val="003366"/>
                      </a:solidFill>
                      <a:prstDash val="solid"/>
                      <a:round/>
                      <a:headEnd type="none" w="med" len="med"/>
                      <a:tailEnd type="none" w="med" len="med"/>
                    </a:lnT>
                    <a:lnB cmpd="sng" algn="ctr" cap="flat" w="12700">
                      <a:solidFill>
                        <a:srgbClr val="003366"/>
                      </a:solidFill>
                      <a:prstDash val="solid"/>
                      <a:round/>
                      <a:headEnd type="none" w="med" len="med"/>
                      <a:tailEnd type="none" w="med" len="med"/>
                    </a:lnB>
                    <a:solidFill>
                      <a:srgbClr val="FFFFFF">
                        <a:alpha val="100000"/>
                      </a:srgbClr>
                    </a:solidFill>
                  </a:tcPr>
                </a:tc>
                <a:tc>
                  <a:txBody>
                    <a:bodyPr anchor="t" rtlCol="false"/>
                    <a:lstStyle/>
                    <a:p>
                      <a:pPr algn="ctr" indent="0">
                        <a:lnSpc>
                          <a:spcPct val="100000"/>
                        </a:lnSpc>
                        <a:defRPr/>
                      </a:pPr>
                      <a:r>
                        <a:rPr lang="en-US" b="false" i="false" strike="noStrike" u="none" sz="1300">
                          <a:solidFill>
                            <a:srgbClr val="333333"/>
                          </a:solidFill>
                          <a:latin typeface="Noto Sans SC"/>
                          <a:ea typeface="Noto Sans SC"/>
                          <a:cs typeface="Noto Sans SC"/>
                          <a:sym typeface="Noto Sans SC"/>
                        </a:rPr>
                        <a:t>明确关联目的，挖掘内在联系</a:t>
                      </a:r>
                      <a:endParaRPr lang="en-US" sz="1100"/>
                    </a:p>
                  </a:txBody>
                  <a:tcPr anchor="ctr" anchorCtr="false" marL="101600" marR="101600" marT="101600" marB="101600">
                    <a:lnL>
                      <a:noFill/>
                    </a:lnL>
                    <a:lnR>
                      <a:noFill/>
                    </a:lnR>
                    <a:lnT cmpd="sng" algn="ctr" cap="flat" w="12700">
                      <a:solidFill>
                        <a:srgbClr val="003366"/>
                      </a:solidFill>
                      <a:prstDash val="solid"/>
                      <a:round/>
                      <a:headEnd type="none" w="med" len="med"/>
                      <a:tailEnd type="none" w="med" len="med"/>
                    </a:lnT>
                    <a:lnB cmpd="sng" algn="ctr" cap="flat" w="12700">
                      <a:solidFill>
                        <a:srgbClr val="003366"/>
                      </a:solidFill>
                      <a:prstDash val="solid"/>
                      <a:round/>
                      <a:headEnd type="none" w="med" len="med"/>
                      <a:tailEnd type="none" w="med" len="med"/>
                    </a:lnB>
                    <a:solidFill>
                      <a:srgbClr val="FFFFFF">
                        <a:alpha val="100000"/>
                      </a:srgbClr>
                    </a:solidFill>
                  </a:tcPr>
                </a:tc>
              </a:tr>
              <a:tr h="533400">
                <a:tc>
                  <a:txBody>
                    <a:bodyPr anchor="t" rtlCol="false"/>
                    <a:lstStyle/>
                    <a:p>
                      <a:pPr algn="ctr" indent="0">
                        <a:lnSpc>
                          <a:spcPct val="100000"/>
                        </a:lnSpc>
                        <a:defRPr/>
                      </a:pPr>
                      <a:r>
                        <a:rPr lang="en-US" b="false" i="false" strike="noStrike" u="none" sz="1300">
                          <a:solidFill>
                            <a:srgbClr val="333333"/>
                          </a:solidFill>
                          <a:latin typeface="Noto Sans SC"/>
                          <a:ea typeface="Noto Sans SC"/>
                          <a:cs typeface="Noto Sans SC"/>
                          <a:sym typeface="Noto Sans SC"/>
                        </a:rPr>
                        <a:t>诗评题</a:t>
                      </a:r>
                      <a:endParaRPr lang="en-US" sz="1100"/>
                    </a:p>
                  </a:txBody>
                  <a:tcPr anchor="ctr" anchorCtr="false" marL="101600" marR="101600" marT="101600" marB="101600">
                    <a:lnL>
                      <a:noFill/>
                    </a:lnL>
                    <a:lnR>
                      <a:noFill/>
                    </a:lnR>
                    <a:lnT cmpd="sng" algn="ctr" cap="flat" w="12700">
                      <a:solidFill>
                        <a:srgbClr val="003366"/>
                      </a:solidFill>
                      <a:prstDash val="solid"/>
                      <a:round/>
                      <a:headEnd type="none" w="med" len="med"/>
                      <a:tailEnd type="none" w="med" len="med"/>
                    </a:lnT>
                    <a:lnB cmpd="sng" algn="ctr" cap="flat" w="12700">
                      <a:solidFill>
                        <a:srgbClr val="003366"/>
                      </a:solidFill>
                      <a:prstDash val="solid"/>
                      <a:round/>
                      <a:headEnd type="none" w="med" len="med"/>
                      <a:tailEnd type="none" w="med" len="med"/>
                    </a:lnB>
                    <a:solidFill>
                      <a:srgbClr val="003366">
                        <a:alpha val="5000"/>
                      </a:srgbClr>
                    </a:solidFill>
                  </a:tcPr>
                </a:tc>
                <a:tc>
                  <a:txBody>
                    <a:bodyPr anchor="t" rtlCol="false"/>
                    <a:lstStyle/>
                    <a:p>
                      <a:pPr algn="ctr" indent="0">
                        <a:lnSpc>
                          <a:spcPct val="100000"/>
                        </a:lnSpc>
                        <a:defRPr/>
                      </a:pPr>
                      <a:r>
                        <a:rPr lang="en-US" b="false" i="false" strike="noStrike" u="none" sz="1300">
                          <a:solidFill>
                            <a:srgbClr val="333333"/>
                          </a:solidFill>
                          <a:latin typeface="Noto Sans SC"/>
                          <a:ea typeface="Noto Sans SC"/>
                          <a:cs typeface="Noto Sans SC"/>
                          <a:sym typeface="Noto Sans SC"/>
                        </a:rPr>
                        <a:t>观点先行，基于论据进行阐述</a:t>
                      </a:r>
                      <a:endParaRPr lang="en-US" sz="1100"/>
                    </a:p>
                  </a:txBody>
                  <a:tcPr anchor="ctr" anchorCtr="false" marL="101600" marR="101600" marT="101600" marB="101600">
                    <a:lnL>
                      <a:noFill/>
                    </a:lnL>
                    <a:lnR>
                      <a:noFill/>
                    </a:lnR>
                    <a:lnT cmpd="sng" algn="ctr" cap="flat" w="12700">
                      <a:solidFill>
                        <a:srgbClr val="003366"/>
                      </a:solidFill>
                      <a:prstDash val="solid"/>
                      <a:round/>
                      <a:headEnd type="none" w="med" len="med"/>
                      <a:tailEnd type="none" w="med" len="med"/>
                    </a:lnT>
                    <a:lnB cmpd="sng" algn="ctr" cap="flat" w="12700">
                      <a:solidFill>
                        <a:srgbClr val="003366"/>
                      </a:solidFill>
                      <a:prstDash val="solid"/>
                      <a:round/>
                      <a:headEnd type="none" w="med" len="med"/>
                      <a:tailEnd type="none" w="med" len="med"/>
                    </a:lnB>
                    <a:solidFill>
                      <a:srgbClr val="003366">
                        <a:alpha val="5000"/>
                      </a:srgbClr>
                    </a:solidFill>
                  </a:tcPr>
                </a:tc>
              </a:tr>
              <a:tr h="533400">
                <a:tc>
                  <a:txBody>
                    <a:bodyPr anchor="t" rtlCol="false"/>
                    <a:lstStyle/>
                    <a:p>
                      <a:pPr algn="ctr" indent="0">
                        <a:lnSpc>
                          <a:spcPct val="100000"/>
                        </a:lnSpc>
                        <a:defRPr/>
                      </a:pPr>
                      <a:r>
                        <a:rPr lang="en-US" b="false" i="false" strike="noStrike" u="none" sz="1300">
                          <a:solidFill>
                            <a:srgbClr val="333333"/>
                          </a:solidFill>
                          <a:latin typeface="Noto Sans SC"/>
                          <a:ea typeface="Noto Sans SC"/>
                          <a:cs typeface="Noto Sans SC"/>
                          <a:sym typeface="Noto Sans SC"/>
                        </a:rPr>
                        <a:t>炼字/炼句题</a:t>
                      </a:r>
                      <a:endParaRPr lang="en-US" sz="1100"/>
                    </a:p>
                  </a:txBody>
                  <a:tcPr anchor="ctr" anchorCtr="false" marL="101600" marR="101600" marT="101600" marB="101600">
                    <a:lnL>
                      <a:noFill/>
                    </a:lnL>
                    <a:lnR>
                      <a:noFill/>
                    </a:lnR>
                    <a:lnT cmpd="sng" algn="ctr" cap="flat" w="12700">
                      <a:solidFill>
                        <a:srgbClr val="003366"/>
                      </a:solidFill>
                      <a:prstDash val="solid"/>
                      <a:round/>
                      <a:headEnd type="none" w="med" len="med"/>
                      <a:tailEnd type="none" w="med" len="med"/>
                    </a:lnT>
                    <a:lnB cmpd="sng" algn="ctr" cap="flat" w="12700">
                      <a:solidFill>
                        <a:srgbClr val="003366"/>
                      </a:solidFill>
                      <a:prstDash val="solid"/>
                      <a:round/>
                      <a:headEnd type="none" w="med" len="med"/>
                      <a:tailEnd type="none" w="med" len="med"/>
                    </a:lnB>
                    <a:solidFill>
                      <a:srgbClr val="FFFFFF">
                        <a:alpha val="100000"/>
                      </a:srgbClr>
                    </a:solidFill>
                  </a:tcPr>
                </a:tc>
                <a:tc>
                  <a:txBody>
                    <a:bodyPr anchor="t" rtlCol="false"/>
                    <a:lstStyle/>
                    <a:p>
                      <a:pPr algn="ctr" indent="0">
                        <a:lnSpc>
                          <a:spcPct val="100000"/>
                        </a:lnSpc>
                        <a:defRPr/>
                      </a:pPr>
                      <a:r>
                        <a:rPr lang="en-US" b="false" i="false" strike="noStrike" u="none" sz="1300">
                          <a:solidFill>
                            <a:srgbClr val="333333"/>
                          </a:solidFill>
                          <a:latin typeface="Noto Sans SC"/>
                          <a:ea typeface="Noto Sans SC"/>
                          <a:cs typeface="Noto Sans SC"/>
                          <a:sym typeface="Noto Sans SC"/>
                        </a:rPr>
                        <a:t>重点分析表达效果，而非仅解释字义</a:t>
                      </a:r>
                      <a:endParaRPr lang="en-US" sz="1100"/>
                    </a:p>
                  </a:txBody>
                  <a:tcPr anchor="ctr" anchorCtr="false" marL="101600" marR="101600" marT="101600" marB="101600">
                    <a:lnL>
                      <a:noFill/>
                    </a:lnL>
                    <a:lnR>
                      <a:noFill/>
                    </a:lnR>
                    <a:lnT cmpd="sng" algn="ctr" cap="flat" w="12700">
                      <a:solidFill>
                        <a:srgbClr val="003366"/>
                      </a:solidFill>
                      <a:prstDash val="solid"/>
                      <a:round/>
                      <a:headEnd type="none" w="med" len="med"/>
                      <a:tailEnd type="none" w="med" len="med"/>
                    </a:lnT>
                    <a:lnB cmpd="sng" algn="ctr" cap="flat" w="12700">
                      <a:solidFill>
                        <a:srgbClr val="003366"/>
                      </a:solidFill>
                      <a:prstDash val="solid"/>
                      <a:round/>
                      <a:headEnd type="none" w="med" len="med"/>
                      <a:tailEnd type="none" w="med" len="med"/>
                    </a:lnB>
                    <a:solidFill>
                      <a:srgbClr val="FFFFFF">
                        <a:alpha val="100000"/>
                      </a:srgbClr>
                    </a:solidFill>
                  </a:tcPr>
                </a:tc>
              </a:tr>
              <a:tr h="533400">
                <a:tc>
                  <a:txBody>
                    <a:bodyPr anchor="t" rtlCol="false"/>
                    <a:lstStyle/>
                    <a:p>
                      <a:pPr algn="ctr" indent="0">
                        <a:lnSpc>
                          <a:spcPct val="100000"/>
                        </a:lnSpc>
                        <a:defRPr/>
                      </a:pPr>
                      <a:r>
                        <a:rPr lang="en-US" b="false" i="false" strike="noStrike" u="none" sz="1300">
                          <a:solidFill>
                            <a:srgbClr val="333333"/>
                          </a:solidFill>
                          <a:latin typeface="Noto Sans SC"/>
                          <a:ea typeface="Noto Sans SC"/>
                          <a:cs typeface="Noto Sans SC"/>
                          <a:sym typeface="Noto Sans SC"/>
                        </a:rPr>
                        <a:t>情感主旨题</a:t>
                      </a:r>
                      <a:endParaRPr lang="en-US" sz="1100"/>
                    </a:p>
                  </a:txBody>
                  <a:tcPr anchor="ctr" anchorCtr="false" marL="101600" marR="101600" marT="101600" marB="101600">
                    <a:lnL>
                      <a:noFill/>
                    </a:lnL>
                    <a:lnR>
                      <a:noFill/>
                    </a:lnR>
                    <a:lnT cmpd="sng" algn="ctr" cap="flat" w="12700">
                      <a:solidFill>
                        <a:srgbClr val="003366"/>
                      </a:solidFill>
                      <a:prstDash val="solid"/>
                      <a:round/>
                      <a:headEnd type="none" w="med" len="med"/>
                      <a:tailEnd type="none" w="med" len="med"/>
                    </a:lnT>
                    <a:lnB>
                      <a:noFill/>
                    </a:lnB>
                    <a:solidFill>
                      <a:srgbClr val="003366">
                        <a:alpha val="5000"/>
                      </a:srgbClr>
                    </a:solidFill>
                  </a:tcPr>
                </a:tc>
                <a:tc>
                  <a:txBody>
                    <a:bodyPr anchor="t" rtlCol="false"/>
                    <a:lstStyle/>
                    <a:p>
                      <a:pPr algn="ctr" indent="0">
                        <a:lnSpc>
                          <a:spcPct val="100000"/>
                        </a:lnSpc>
                        <a:defRPr/>
                      </a:pPr>
                      <a:r>
                        <a:rPr lang="en-US" b="false" i="false" strike="noStrike" u="none" sz="1300">
                          <a:solidFill>
                            <a:srgbClr val="333333"/>
                          </a:solidFill>
                          <a:latin typeface="Noto Sans SC"/>
                          <a:ea typeface="Noto Sans SC"/>
                          <a:cs typeface="Noto Sans SC"/>
                          <a:sym typeface="Noto Sans SC"/>
                        </a:rPr>
                        <a:t>明确范围（全诗/局部）与要求（概括/分析）</a:t>
                      </a:r>
                      <a:endParaRPr lang="en-US" sz="1100"/>
                    </a:p>
                  </a:txBody>
                  <a:tcPr anchor="ctr" anchorCtr="false" marL="101600" marR="101600" marT="101600" marB="101600">
                    <a:lnL>
                      <a:noFill/>
                    </a:lnL>
                    <a:lnR>
                      <a:noFill/>
                    </a:lnR>
                    <a:lnT cmpd="sng" algn="ctr" cap="flat" w="12700">
                      <a:solidFill>
                        <a:srgbClr val="003366"/>
                      </a:solidFill>
                      <a:prstDash val="solid"/>
                      <a:round/>
                      <a:headEnd type="none" w="med" len="med"/>
                      <a:tailEnd type="none" w="med" len="med"/>
                    </a:lnT>
                    <a:lnB>
                      <a:noFill/>
                    </a:lnB>
                    <a:solidFill>
                      <a:srgbClr val="003366">
                        <a:alpha val="5000"/>
                      </a:srgbClr>
                    </a:solidFill>
                  </a:tcPr>
                </a:tc>
              </a:tr>
            </a:tbl>
          </a:graphicData>
        </a:graphic>
      </p:graphicFrame>
      <p:sp>
        <p:nvSpPr>
          <p:cNvPr name="AutoShape 18" id="18"/>
          <p:cNvSpPr/>
          <p:nvPr/>
        </p:nvSpPr>
        <p:spPr>
          <a:xfrm rot="0" flipH="false" flipV="false">
            <a:off x="762000" y="5715000"/>
            <a:ext cx="10668000" cy="508000"/>
          </a:xfrm>
          <a:prstGeom prst="roundRect">
            <a:avLst>
              <a:gd name="adj" fmla="val 25000"/>
            </a:avLst>
          </a:prstGeom>
          <a:solidFill>
            <a:srgbClr val="FF6600">
              <a:alpha val="10000"/>
            </a:srgbClr>
          </a:solidFill>
          <a:ln w="12700" cmpd="sng" cap="flat">
            <a:solidFill>
              <a:srgbClr val="FF6600">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5816600"/>
            <a:ext cx="304800" cy="304800"/>
          </a:xfrm>
          <a:prstGeom prst="rect">
            <a:avLst/>
          </a:prstGeom>
        </p:spPr>
      </p:pic>
      <p:sp>
        <p:nvSpPr>
          <p:cNvPr name="AutoShape 20" id="20"/>
          <p:cNvSpPr/>
          <p:nvPr/>
        </p:nvSpPr>
        <p:spPr>
          <a:xfrm rot="0" flipH="false" flipV="false">
            <a:off x="1397000" y="5791200"/>
            <a:ext cx="9779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6600"/>
                </a:solidFill>
                <a:latin typeface="Noto Sans SC"/>
                <a:ea typeface="Noto Sans SC"/>
                <a:cs typeface="Noto Sans SC"/>
                <a:sym typeface="Noto Sans SC"/>
              </a:rPr>
              <a:t>核心提示：</a:t>
            </a:r>
            <a:r>
              <a:rPr lang="en-US" b="false" i="false" strike="noStrike" u="none" sz="1400">
                <a:solidFill>
                  <a:srgbClr val="666666"/>
                </a:solidFill>
                <a:latin typeface="Noto Sans SC"/>
                <a:ea typeface="Noto Sans SC"/>
                <a:cs typeface="Noto Sans SC"/>
                <a:sym typeface="Noto Sans SC"/>
              </a:rPr>
              <a:t>审好题是答对题的关键，务必关注题干中的限制词与关键词，避免答非所问。</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40259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3366"/>
                </a:solidFill>
                <a:latin typeface="Noto Sans SC"/>
                <a:ea typeface="Noto Sans SC"/>
                <a:cs typeface="Noto Sans SC"/>
                <a:sym typeface="Noto Sans SC"/>
              </a:rPr>
              <a:t>四、答案组成（一）</a:t>
            </a:r>
            <a:endParaRPr lang="en-US" sz="1100"/>
          </a:p>
        </p:txBody>
      </p:sp>
      <p:sp>
        <p:nvSpPr>
          <p:cNvPr name="AutoShape 3" id="3"/>
          <p:cNvSpPr/>
          <p:nvPr/>
        </p:nvSpPr>
        <p:spPr>
          <a:xfrm rot="0" flipH="false" flipV="false">
            <a:off x="762000" y="1270000"/>
            <a:ext cx="762000" cy="50800"/>
          </a:xfrm>
          <a:prstGeom prst="roundRect">
            <a:avLst>
              <a:gd name="adj" fmla="val 0"/>
            </a:avLst>
          </a:prstGeom>
          <a:solidFill>
            <a:srgbClr val="FF660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5080000" cy="2032000"/>
          </a:xfrm>
          <a:prstGeom prst="roundRect">
            <a:avLst>
              <a:gd name="adj" fmla="val 6250"/>
            </a:avLst>
          </a:prstGeom>
          <a:solidFill>
            <a:srgbClr val="003366">
              <a:alpha val="4000"/>
            </a:srgbClr>
          </a:solidFill>
          <a:ln w="12700" cmpd="sng" cap="flat">
            <a:solidFill>
              <a:srgbClr val="003366">
                <a:alpha val="1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841500"/>
            <a:ext cx="304800" cy="304800"/>
          </a:xfrm>
          <a:prstGeom prst="rect">
            <a:avLst/>
          </a:prstGeom>
        </p:spPr>
      </p:pic>
      <p:sp>
        <p:nvSpPr>
          <p:cNvPr name="AutoShape 6" id="6"/>
          <p:cNvSpPr/>
          <p:nvPr/>
        </p:nvSpPr>
        <p:spPr>
          <a:xfrm rot="0" flipH="false" flipV="false">
            <a:off x="1460500" y="1803400"/>
            <a:ext cx="4127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3366"/>
                </a:solidFill>
                <a:latin typeface="Noto Sans SC"/>
                <a:ea typeface="Noto Sans SC"/>
                <a:cs typeface="Noto Sans SC"/>
                <a:sym typeface="Noto Sans SC"/>
              </a:rPr>
              <a:t>选择题答案特点</a:t>
            </a:r>
            <a:endParaRPr lang="en-US" sz="1100"/>
          </a:p>
        </p:txBody>
      </p:sp>
      <p:sp>
        <p:nvSpPr>
          <p:cNvPr name="AutoShape 7" id="7"/>
          <p:cNvSpPr/>
          <p:nvPr/>
        </p:nvSpPr>
        <p:spPr>
          <a:xfrm rot="0" flipH="false" flipV="false">
            <a:off x="1016000" y="2286000"/>
            <a:ext cx="4572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500">
                <a:solidFill>
                  <a:srgbClr val="666666"/>
                </a:solidFill>
                <a:latin typeface="Noto Sans SC"/>
                <a:ea typeface="Noto Sans SC"/>
                <a:cs typeface="Noto Sans SC"/>
                <a:sym typeface="Noto Sans SC"/>
              </a:rPr>
              <a:t>正确答案通常无需冗长分析，但排除错误选项需要对诗歌有扎实的理解。特别警惕程度夸大等常见错误类型。</a:t>
            </a:r>
            <a:endParaRPr lang="en-US" sz="1100"/>
          </a:p>
        </p:txBody>
      </p:sp>
      <p:sp>
        <p:nvSpPr>
          <p:cNvPr name="AutoShape 8" id="8"/>
          <p:cNvSpPr/>
          <p:nvPr/>
        </p:nvSpPr>
        <p:spPr>
          <a:xfrm rot="0" flipH="false" flipV="false">
            <a:off x="6350000" y="1651000"/>
            <a:ext cx="5080000" cy="2032000"/>
          </a:xfrm>
          <a:prstGeom prst="roundRect">
            <a:avLst>
              <a:gd name="adj" fmla="val 6250"/>
            </a:avLst>
          </a:prstGeom>
          <a:solidFill>
            <a:srgbClr val="003366">
              <a:alpha val="4000"/>
            </a:srgbClr>
          </a:solidFill>
          <a:ln w="12700" cmpd="sng" cap="flat">
            <a:solidFill>
              <a:srgbClr val="003366">
                <a:alpha val="1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1841500"/>
            <a:ext cx="304800" cy="304800"/>
          </a:xfrm>
          <a:prstGeom prst="rect">
            <a:avLst/>
          </a:prstGeom>
        </p:spPr>
      </p:pic>
      <p:sp>
        <p:nvSpPr>
          <p:cNvPr name="AutoShape 10" id="10"/>
          <p:cNvSpPr/>
          <p:nvPr/>
        </p:nvSpPr>
        <p:spPr>
          <a:xfrm rot="0" flipH="false" flipV="false">
            <a:off x="7048500" y="1803400"/>
            <a:ext cx="4127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3366"/>
                </a:solidFill>
                <a:latin typeface="Noto Sans SC"/>
                <a:ea typeface="Noto Sans SC"/>
                <a:cs typeface="Noto Sans SC"/>
                <a:sym typeface="Noto Sans SC"/>
              </a:rPr>
              <a:t>主观题答案“四步规范”</a:t>
            </a:r>
            <a:endParaRPr lang="en-US" sz="1100"/>
          </a:p>
        </p:txBody>
      </p:sp>
      <p:sp>
        <p:nvSpPr>
          <p:cNvPr name="AutoShape 11" id="11"/>
          <p:cNvSpPr/>
          <p:nvPr/>
        </p:nvSpPr>
        <p:spPr>
          <a:xfrm rot="0" flipH="false" flipV="false">
            <a:off x="6604000" y="2286000"/>
            <a:ext cx="4572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500">
                <a:solidFill>
                  <a:srgbClr val="666666"/>
                </a:solidFill>
                <a:latin typeface="Noto Sans SC"/>
                <a:ea typeface="Noto Sans SC"/>
                <a:cs typeface="Noto Sans SC"/>
                <a:sym typeface="Noto Sans SC"/>
              </a:rPr>
              <a:t>通用答题范式：点明角度 → 结合诗句 → 分析效果 → 点明情感。遵循此范式可确保答案逻辑完整、层次清晰。</a:t>
            </a:r>
            <a:endParaRPr lang="en-US" sz="1100"/>
          </a:p>
        </p:txBody>
      </p:sp>
      <p:sp>
        <p:nvSpPr>
          <p:cNvPr name="AutoShape 12" id="12"/>
          <p:cNvSpPr/>
          <p:nvPr/>
        </p:nvSpPr>
        <p:spPr>
          <a:xfrm rot="0" flipH="false" flipV="false">
            <a:off x="762000" y="3937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6600"/>
                </a:solidFill>
                <a:latin typeface="Noto Sans SC"/>
                <a:ea typeface="Noto Sans SC"/>
                <a:cs typeface="Noto Sans SC"/>
                <a:sym typeface="Noto Sans SC"/>
              </a:rPr>
              <a:t>主观题答题范式详解</a:t>
            </a:r>
            <a:endParaRPr lang="en-US" sz="1100"/>
          </a:p>
        </p:txBody>
      </p:sp>
      <p:sp>
        <p:nvSpPr>
          <p:cNvPr name="AutoShape 13" id="13"/>
          <p:cNvSpPr/>
          <p:nvPr/>
        </p:nvSpPr>
        <p:spPr>
          <a:xfrm rot="0" flipH="false" flipV="false">
            <a:off x="762000" y="4445000"/>
            <a:ext cx="2413000" cy="1270000"/>
          </a:xfrm>
          <a:prstGeom prst="roundRect">
            <a:avLst>
              <a:gd name="adj" fmla="val 10000"/>
            </a:avLst>
          </a:prstGeom>
          <a:solidFill>
            <a:srgbClr val="FFFFFF">
              <a:alpha val="100000"/>
            </a:srgbClr>
          </a:solidFill>
          <a:ln w="12700" cmpd="sng" cap="flat">
            <a:solidFill>
              <a:srgbClr val="C8C8C8">
                <a:alpha val="100000"/>
              </a:srgbClr>
            </a:solidFill>
            <a:prstDash val="solid"/>
            <a:round/>
          </a:ln>
          <a:effectLst>
            <a:outerShdw dir="2700000" dist="50800" blurRad="1016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714500" y="4635500"/>
            <a:ext cx="508000" cy="508000"/>
          </a:xfrm>
          <a:prstGeom prst="rect">
            <a:avLst/>
          </a:prstGeom>
        </p:spPr>
      </p:pic>
      <p:sp>
        <p:nvSpPr>
          <p:cNvPr name="AutoShape 15" id="15"/>
          <p:cNvSpPr/>
          <p:nvPr/>
        </p:nvSpPr>
        <p:spPr>
          <a:xfrm rot="0" flipH="false" flipV="false">
            <a:off x="762000" y="5207000"/>
            <a:ext cx="2413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333333"/>
                </a:solidFill>
                <a:latin typeface="Noto Sans SC"/>
                <a:ea typeface="Noto Sans SC"/>
                <a:cs typeface="Noto Sans SC"/>
                <a:sym typeface="Noto Sans SC"/>
              </a:rPr>
              <a:t>1. 点明角度</a:t>
            </a:r>
            <a:endParaRPr lang="en-US" sz="1100"/>
          </a:p>
        </p:txBody>
      </p:sp>
      <p:sp>
        <p:nvSpPr>
          <p:cNvPr name="AutoShape 16" id="16"/>
          <p:cNvSpPr/>
          <p:nvPr/>
        </p:nvSpPr>
        <p:spPr>
          <a:xfrm rot="0" flipH="false" flipV="false">
            <a:off x="3505200" y="4445000"/>
            <a:ext cx="2413000" cy="1270000"/>
          </a:xfrm>
          <a:prstGeom prst="roundRect">
            <a:avLst>
              <a:gd name="adj" fmla="val 10000"/>
            </a:avLst>
          </a:prstGeom>
          <a:solidFill>
            <a:srgbClr val="FFFFFF">
              <a:alpha val="100000"/>
            </a:srgbClr>
          </a:solidFill>
          <a:ln w="12700" cmpd="sng" cap="flat">
            <a:solidFill>
              <a:srgbClr val="C8C8C8">
                <a:alpha val="100000"/>
              </a:srgbClr>
            </a:solidFill>
            <a:prstDash val="solid"/>
            <a:round/>
          </a:ln>
          <a:effectLst>
            <a:outerShdw dir="2700000" dist="50800" blurRad="1016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4457700" y="4635500"/>
            <a:ext cx="508000" cy="508000"/>
          </a:xfrm>
          <a:prstGeom prst="rect">
            <a:avLst/>
          </a:prstGeom>
        </p:spPr>
      </p:pic>
      <p:sp>
        <p:nvSpPr>
          <p:cNvPr name="AutoShape 18" id="18"/>
          <p:cNvSpPr/>
          <p:nvPr/>
        </p:nvSpPr>
        <p:spPr>
          <a:xfrm rot="0" flipH="false" flipV="false">
            <a:off x="3505200" y="5207000"/>
            <a:ext cx="2413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333333"/>
                </a:solidFill>
                <a:latin typeface="Noto Sans SC"/>
                <a:ea typeface="Noto Sans SC"/>
                <a:cs typeface="Noto Sans SC"/>
                <a:sym typeface="Noto Sans SC"/>
              </a:rPr>
              <a:t>2. 结合诗句</a:t>
            </a:r>
            <a:endParaRPr lang="en-US" sz="1100"/>
          </a:p>
        </p:txBody>
      </p:sp>
      <p:sp>
        <p:nvSpPr>
          <p:cNvPr name="AutoShape 19" id="19"/>
          <p:cNvSpPr/>
          <p:nvPr/>
        </p:nvSpPr>
        <p:spPr>
          <a:xfrm rot="0" flipH="false" flipV="false">
            <a:off x="6248400" y="4445000"/>
            <a:ext cx="2413000" cy="1270000"/>
          </a:xfrm>
          <a:prstGeom prst="roundRect">
            <a:avLst>
              <a:gd name="adj" fmla="val 10000"/>
            </a:avLst>
          </a:prstGeom>
          <a:solidFill>
            <a:srgbClr val="FFFFFF">
              <a:alpha val="100000"/>
            </a:srgbClr>
          </a:solidFill>
          <a:ln w="12700" cmpd="sng" cap="flat">
            <a:solidFill>
              <a:srgbClr val="C8C8C8">
                <a:alpha val="100000"/>
              </a:srgbClr>
            </a:solidFill>
            <a:prstDash val="solid"/>
            <a:round/>
          </a:ln>
          <a:effectLst>
            <a:outerShdw dir="2700000" dist="50800" blurRad="1016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7200900" y="4635500"/>
            <a:ext cx="508000" cy="508000"/>
          </a:xfrm>
          <a:prstGeom prst="rect">
            <a:avLst/>
          </a:prstGeom>
        </p:spPr>
      </p:pic>
      <p:sp>
        <p:nvSpPr>
          <p:cNvPr name="AutoShape 21" id="21"/>
          <p:cNvSpPr/>
          <p:nvPr/>
        </p:nvSpPr>
        <p:spPr>
          <a:xfrm rot="0" flipH="false" flipV="false">
            <a:off x="6248400" y="5207000"/>
            <a:ext cx="2413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333333"/>
                </a:solidFill>
                <a:latin typeface="Noto Sans SC"/>
                <a:ea typeface="Noto Sans SC"/>
                <a:cs typeface="Noto Sans SC"/>
                <a:sym typeface="Noto Sans SC"/>
              </a:rPr>
              <a:t>3. 分析效果</a:t>
            </a:r>
            <a:endParaRPr lang="en-US" sz="1100"/>
          </a:p>
        </p:txBody>
      </p:sp>
      <p:sp>
        <p:nvSpPr>
          <p:cNvPr name="AutoShape 22" id="22"/>
          <p:cNvSpPr/>
          <p:nvPr/>
        </p:nvSpPr>
        <p:spPr>
          <a:xfrm rot="0" flipH="false" flipV="false">
            <a:off x="8991600" y="4445000"/>
            <a:ext cx="2413000" cy="1270000"/>
          </a:xfrm>
          <a:prstGeom prst="roundRect">
            <a:avLst>
              <a:gd name="adj" fmla="val 10000"/>
            </a:avLst>
          </a:prstGeom>
          <a:solidFill>
            <a:srgbClr val="FFFFFF">
              <a:alpha val="100000"/>
            </a:srgbClr>
          </a:solidFill>
          <a:ln w="12700" cmpd="sng" cap="flat">
            <a:solidFill>
              <a:srgbClr val="C8C8C8">
                <a:alpha val="100000"/>
              </a:srgbClr>
            </a:solidFill>
            <a:prstDash val="solid"/>
            <a:round/>
          </a:ln>
          <a:effectLst>
            <a:outerShdw dir="2700000" dist="50800" blurRad="1016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9944100" y="4635500"/>
            <a:ext cx="508000" cy="508000"/>
          </a:xfrm>
          <a:prstGeom prst="rect">
            <a:avLst/>
          </a:prstGeom>
        </p:spPr>
      </p:pic>
      <p:sp>
        <p:nvSpPr>
          <p:cNvPr name="AutoShape 24" id="24"/>
          <p:cNvSpPr/>
          <p:nvPr/>
        </p:nvSpPr>
        <p:spPr>
          <a:xfrm rot="0" flipH="false" flipV="false">
            <a:off x="8991600" y="5207000"/>
            <a:ext cx="2413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333333"/>
                </a:solidFill>
                <a:latin typeface="Noto Sans SC"/>
                <a:ea typeface="Noto Sans SC"/>
                <a:cs typeface="Noto Sans SC"/>
                <a:sym typeface="Noto Sans SC"/>
              </a:rPr>
              <a:t>4. 点明情感</a:t>
            </a:r>
            <a:endParaRPr lang="en-US" sz="1100"/>
          </a:p>
        </p:txBody>
      </p:sp>
      <p:sp>
        <p:nvSpPr>
          <p:cNvPr name="AutoShape 25" id="25"/>
          <p:cNvSpPr/>
          <p:nvPr/>
        </p:nvSpPr>
        <p:spPr>
          <a:xfrm rot="0" flipH="false" flipV="false">
            <a:off x="762000" y="6096000"/>
            <a:ext cx="10668000" cy="50800"/>
          </a:xfrm>
          <a:prstGeom prst="roundRect">
            <a:avLst>
              <a:gd name="adj" fmla="val 0"/>
            </a:avLst>
          </a:prstGeom>
          <a:solidFill>
            <a:srgbClr val="003366">
              <a:alpha val="1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4064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3366"/>
                </a:solidFill>
                <a:latin typeface="Noto Sans SC"/>
                <a:ea typeface="Noto Sans SC"/>
                <a:cs typeface="Noto Sans SC"/>
                <a:sym typeface="Noto Sans SC"/>
              </a:rPr>
              <a:t>四、答案组成（二）</a:t>
            </a:r>
            <a:endParaRPr lang="en-US" sz="1100"/>
          </a:p>
        </p:txBody>
      </p:sp>
      <p:sp>
        <p:nvSpPr>
          <p:cNvPr name="AutoShape 3" id="3"/>
          <p:cNvSpPr/>
          <p:nvPr/>
        </p:nvSpPr>
        <p:spPr>
          <a:xfrm rot="0" flipH="false" flipV="false">
            <a:off x="762000" y="1270000"/>
            <a:ext cx="762000" cy="50800"/>
          </a:xfrm>
          <a:prstGeom prst="roundRect">
            <a:avLst>
              <a:gd name="adj" fmla="val 0"/>
            </a:avLst>
          </a:prstGeom>
          <a:solidFill>
            <a:srgbClr val="FF660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3810000" cy="2921000"/>
          </a:xfrm>
          <a:prstGeom prst="roundRect">
            <a:avLst>
              <a:gd name="adj" fmla="val 4347"/>
            </a:avLst>
          </a:prstGeom>
          <a:solidFill>
            <a:srgbClr val="003366">
              <a:alpha val="5000"/>
            </a:srgbClr>
          </a:solidFill>
          <a:ln cmpd="sng" cap="flat">
            <a:solidFill>
              <a:srgbClr val="00264D">
                <a:alpha val="5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841500"/>
            <a:ext cx="304800" cy="304800"/>
          </a:xfrm>
          <a:prstGeom prst="rect">
            <a:avLst/>
          </a:prstGeom>
        </p:spPr>
      </p:pic>
      <p:sp>
        <p:nvSpPr>
          <p:cNvPr name="AutoShape 6" id="6"/>
          <p:cNvSpPr/>
          <p:nvPr/>
        </p:nvSpPr>
        <p:spPr>
          <a:xfrm rot="0" flipH="false" flipV="false">
            <a:off x="1397000" y="1803400"/>
            <a:ext cx="292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3366"/>
                </a:solidFill>
                <a:latin typeface="Noto Sans SC"/>
                <a:ea typeface="Noto Sans SC"/>
                <a:cs typeface="Noto Sans SC"/>
                <a:sym typeface="Noto Sans SC"/>
              </a:rPr>
              <a:t>评分趋势变化</a:t>
            </a:r>
            <a:endParaRPr lang="en-US" sz="1100"/>
          </a:p>
        </p:txBody>
      </p:sp>
      <p:sp>
        <p:nvSpPr>
          <p:cNvPr name="AutoShape 7" id="7"/>
          <p:cNvSpPr/>
          <p:nvPr/>
        </p:nvSpPr>
        <p:spPr>
          <a:xfrm rot="0" flipH="false" flipV="false">
            <a:off x="1016000" y="2286000"/>
            <a:ext cx="3302000" cy="2032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08333"/>
              </a:lnSpc>
              <a:buClr>
                <a:srgbClr val="666666"/>
              </a:buClr>
              <a:buFont typeface="Wingdings"/>
              <a:buChar char="v"/>
              <a:defRPr/>
            </a:pPr>
            <a:r>
              <a:rPr lang="en-US" b="true" i="false" strike="noStrike" u="none" sz="1400">
                <a:solidFill>
                  <a:srgbClr val="666666"/>
                </a:solidFill>
                <a:latin typeface="Noto Sans SC"/>
                <a:ea typeface="Noto Sans SC"/>
                <a:cs typeface="Noto Sans SC"/>
                <a:sym typeface="Noto Sans SC"/>
              </a:rPr>
              <a:t>从“谈风格”转向“评风格”</a:t>
            </a:r>
            <a:r>
              <a:rPr lang="en-US" b="false" i="false" strike="noStrike" u="none" sz="1400">
                <a:solidFill>
                  <a:srgbClr val="666666"/>
                </a:solidFill>
                <a:latin typeface="Noto Sans SC"/>
                <a:ea typeface="Noto Sans SC"/>
                <a:cs typeface="Noto Sans SC"/>
                <a:sym typeface="Noto Sans SC"/>
              </a:rPr>
              <a:t/>
            </a:r>
            <a:endParaRPr lang="en-US" sz="1100"/>
          </a:p>
          <a:p>
            <a:pPr algn="l" indent="-177800" marL="177800">
              <a:lnSpc>
                <a:spcPct val="108333"/>
              </a:lnSpc>
              <a:buClr>
                <a:srgbClr val="666666"/>
              </a:buClr>
              <a:buFont typeface="Wingdings"/>
              <a:buChar char="v"/>
            </a:pPr>
            <a:r>
              <a:rPr lang="en-US" b="true" i="false" strike="noStrike" u="none" sz="1400">
                <a:solidFill>
                  <a:srgbClr val="666666"/>
                </a:solidFill>
                <a:latin typeface="Noto Sans SC"/>
                <a:ea typeface="Noto Sans SC"/>
                <a:cs typeface="Noto Sans SC"/>
                <a:sym typeface="Noto Sans SC"/>
              </a:rPr>
              <a:t>拒绝“只译不议”</a:t>
            </a:r>
            <a:r>
              <a:rPr lang="en-US" b="false" i="false" strike="noStrike" u="none" sz="1400">
                <a:solidFill>
                  <a:srgbClr val="666666"/>
                </a:solidFill>
                <a:latin typeface="Noto Sans SC"/>
                <a:ea typeface="Noto Sans SC"/>
                <a:cs typeface="Noto Sans SC"/>
                <a:sym typeface="Noto Sans SC"/>
              </a:rPr>
              <a:t>，必须结合文本进行具体分析。</a:t>
            </a:r>
            <a:r>
              <a:rPr lang="en-US" b="false" i="false" strike="noStrike" u="none" sz="1400">
                <a:solidFill>
                  <a:srgbClr val="666666"/>
                </a:solidFill>
                <a:latin typeface="Noto Sans SC"/>
                <a:ea typeface="Noto Sans SC"/>
                <a:cs typeface="Noto Sans SC"/>
                <a:sym typeface="Noto Sans SC"/>
              </a:rPr>
              <a:t/>
            </a:r>
          </a:p>
          <a:p>
            <a:pPr algn="l" indent="-177800" marL="177800">
              <a:lnSpc>
                <a:spcPct val="108333"/>
              </a:lnSpc>
              <a:buClr>
                <a:srgbClr val="666666"/>
              </a:buClr>
              <a:buFont typeface="Wingdings"/>
              <a:buChar char="v"/>
            </a:pPr>
            <a:r>
              <a:rPr lang="en-US" b="true" i="false" strike="noStrike" u="none" sz="1400">
                <a:solidFill>
                  <a:srgbClr val="666666"/>
                </a:solidFill>
                <a:latin typeface="Noto Sans SC"/>
                <a:ea typeface="Noto Sans SC"/>
                <a:cs typeface="Noto Sans SC"/>
                <a:sym typeface="Noto Sans SC"/>
              </a:rPr>
              <a:t>严禁套话</a:t>
            </a:r>
            <a:r>
              <a:rPr lang="en-US" b="false" i="false" strike="noStrike" u="none" sz="1400">
                <a:solidFill>
                  <a:srgbClr val="666666"/>
                </a:solidFill>
                <a:latin typeface="Noto Sans SC"/>
                <a:ea typeface="Noto Sans SC"/>
                <a:cs typeface="Noto Sans SC"/>
                <a:sym typeface="Noto Sans SC"/>
              </a:rPr>
              <a:t>，脱离文本的泛泛而谈不得分。</a:t>
            </a:r>
          </a:p>
        </p:txBody>
      </p:sp>
      <p:graphicFrame>
        <p:nvGraphicFramePr>
          <p:cNvPr name="Table 8" id="8"/>
          <p:cNvGraphicFramePr>
            <a:graphicFrameLocks noGrp="true"/>
          </p:cNvGraphicFramePr>
          <p:nvPr/>
        </p:nvGraphicFramePr>
        <p:xfrm>
          <a:off x="4953000" y="1651000"/>
          <a:ext cx="5969000" cy="2730500"/>
        </p:xfrm>
        <a:graphic>
          <a:graphicData uri="http://schemas.openxmlformats.org/drawingml/2006/table">
            <a:tbl>
              <a:tblPr>
                <a:effectLst/>
              </a:tblPr>
              <a:tblGrid>
                <a:gridCol w="1651000"/>
                <a:gridCol w="4318000"/>
              </a:tblGrid>
              <a:tr h="508000">
                <a:tc>
                  <a:txBody>
                    <a:bodyPr anchor="t" rtlCol="false"/>
                    <a:lstStyle/>
                    <a:p>
                      <a:pPr algn="ctr" indent="0">
                        <a:lnSpc>
                          <a:spcPct val="100000"/>
                        </a:lnSpc>
                        <a:defRPr/>
                      </a:pPr>
                      <a:r>
                        <a:rPr lang="en-US" b="true" i="false" strike="noStrike" u="none" sz="1600">
                          <a:solidFill>
                            <a:srgbClr val="FFFFFF"/>
                          </a:solidFill>
                          <a:latin typeface="Noto Sans SC"/>
                          <a:ea typeface="Noto Sans SC"/>
                          <a:cs typeface="Noto Sans SC"/>
                          <a:sym typeface="Noto Sans SC"/>
                        </a:rPr>
                        <a:t>题型分类</a:t>
                      </a:r>
                      <a:endParaRPr lang="en-US" sz="1100"/>
                    </a:p>
                  </a:txBody>
                  <a:tcPr anchor="ctr" anchorCtr="false" marL="101600" marR="101600" marT="101600" marB="101600">
                    <a:lnL>
                      <a:noFill/>
                    </a:lnL>
                    <a:lnR>
                      <a:noFill/>
                    </a:lnR>
                    <a:lnT>
                      <a:noFill/>
                    </a:lnT>
                    <a:lnB>
                      <a:noFill/>
                    </a:lnB>
                    <a:solidFill>
                      <a:srgbClr val="003366">
                        <a:alpha val="100000"/>
                      </a:srgbClr>
                    </a:solidFill>
                  </a:tcPr>
                </a:tc>
                <a:tc>
                  <a:txBody>
                    <a:bodyPr anchor="t" rtlCol="false"/>
                    <a:lstStyle/>
                    <a:p>
                      <a:pPr algn="ctr" indent="0">
                        <a:lnSpc>
                          <a:spcPct val="100000"/>
                        </a:lnSpc>
                        <a:defRPr/>
                      </a:pPr>
                      <a:r>
                        <a:rPr lang="en-US" b="true" i="false" strike="noStrike" u="none" sz="1600">
                          <a:solidFill>
                            <a:srgbClr val="FFFFFF"/>
                          </a:solidFill>
                          <a:latin typeface="Noto Sans SC"/>
                          <a:ea typeface="Noto Sans SC"/>
                          <a:cs typeface="Noto Sans SC"/>
                          <a:sym typeface="Noto Sans SC"/>
                        </a:rPr>
                        <a:t>答案核心构成逻辑</a:t>
                      </a:r>
                      <a:endParaRPr lang="en-US" sz="1100"/>
                    </a:p>
                  </a:txBody>
                  <a:tcPr anchor="ctr" anchorCtr="false" marL="101600" marR="101600" marT="101600" marB="101600">
                    <a:lnL>
                      <a:noFill/>
                    </a:lnL>
                    <a:lnR>
                      <a:noFill/>
                    </a:lnR>
                    <a:lnT>
                      <a:noFill/>
                    </a:lnT>
                    <a:lnB>
                      <a:noFill/>
                    </a:lnB>
                    <a:solidFill>
                      <a:srgbClr val="003366">
                        <a:alpha val="100000"/>
                      </a:srgbClr>
                    </a:solidFill>
                  </a:tcPr>
                </a:tc>
              </a:tr>
              <a:tr h="444500">
                <a:tc>
                  <a:txBody>
                    <a:bodyPr anchor="t" rtlCol="false"/>
                    <a:lstStyle/>
                    <a:p>
                      <a:pPr algn="ctr" indent="0">
                        <a:lnSpc>
                          <a:spcPct val="100000"/>
                        </a:lnSpc>
                        <a:defRPr/>
                      </a:pPr>
                      <a:r>
                        <a:rPr lang="en-US" b="true" i="false" strike="noStrike" u="none" sz="1400">
                          <a:solidFill>
                            <a:srgbClr val="333333"/>
                          </a:solidFill>
                          <a:latin typeface="Noto Sans SC"/>
                          <a:ea typeface="Noto Sans SC"/>
                          <a:cs typeface="Noto Sans SC"/>
                          <a:sym typeface="Noto Sans SC"/>
                        </a:rPr>
                        <a:t>选择题</a:t>
                      </a:r>
                      <a:endParaRPr lang="en-US" sz="1100"/>
                    </a:p>
                  </a:txBody>
                  <a:tcPr anchor="ctr" anchorCtr="false" marL="101600" marR="101600" marT="101600" marB="101600">
                    <a:lnL>
                      <a:noFill/>
                    </a:lnL>
                    <a:lnR>
                      <a:noFill/>
                    </a:lnR>
                    <a:lnT>
                      <a:noFill/>
                    </a:lnT>
                    <a:lnB cmpd="sng" algn="ctr" cap="flat" w="12700">
                      <a:solidFill>
                        <a:srgbClr val="E5E7EB"/>
                      </a:solidFill>
                      <a:prstDash val="solid"/>
                      <a:round/>
                      <a:headEnd type="none" w="med" len="med"/>
                      <a:tailEnd type="none" w="med" len="med"/>
                    </a:lnB>
                    <a:solidFill>
                      <a:srgbClr val="003366">
                        <a:alpha val="5000"/>
                      </a:srgbClr>
                    </a:solidFill>
                  </a:tcPr>
                </a:tc>
                <a:tc>
                  <a:txBody>
                    <a:bodyPr anchor="t" rtlCol="false"/>
                    <a:lstStyle/>
                    <a:p>
                      <a:pPr algn="l" indent="0" marL="127000">
                        <a:lnSpc>
                          <a:spcPct val="100000"/>
                        </a:lnSpc>
                        <a:defRPr/>
                      </a:pPr>
                      <a:r>
                        <a:rPr lang="en-US" b="false" i="false" strike="noStrike" u="none" sz="1400">
                          <a:solidFill>
                            <a:srgbClr val="666666"/>
                          </a:solidFill>
                          <a:latin typeface="Noto Sans SC"/>
                          <a:ea typeface="Noto Sans SC"/>
                          <a:cs typeface="Noto Sans SC"/>
                          <a:sym typeface="Noto Sans SC"/>
                        </a:rPr>
                        <a:t>逐项比对，警惕程度夸大或无中生有</a:t>
                      </a:r>
                      <a:endParaRPr lang="en-US" sz="1100"/>
                    </a:p>
                  </a:txBody>
                  <a:tcPr anchor="ctr" anchorCtr="false" marL="101600" marR="101600" marT="101600" marB="101600">
                    <a:lnL>
                      <a:noFill/>
                    </a:lnL>
                    <a:lnR>
                      <a:noFill/>
                    </a:lnR>
                    <a:lnT>
                      <a:noFill/>
                    </a:lnT>
                    <a:lnB cmpd="sng" algn="ctr" cap="flat" w="12700">
                      <a:solidFill>
                        <a:srgbClr val="E5E7EB"/>
                      </a:solidFill>
                      <a:prstDash val="solid"/>
                      <a:round/>
                      <a:headEnd type="none" w="med" len="med"/>
                      <a:tailEnd type="none" w="med" len="med"/>
                    </a:lnB>
                    <a:solidFill>
                      <a:srgbClr val="003366">
                        <a:alpha val="5000"/>
                      </a:srgbClr>
                    </a:solidFill>
                  </a:tcPr>
                </a:tc>
              </a:tr>
              <a:tr h="444500">
                <a:tc>
                  <a:txBody>
                    <a:bodyPr anchor="t" rtlCol="false"/>
                    <a:lstStyle/>
                    <a:p>
                      <a:pPr algn="ctr" indent="0">
                        <a:lnSpc>
                          <a:spcPct val="100000"/>
                        </a:lnSpc>
                        <a:defRPr/>
                      </a:pPr>
                      <a:r>
                        <a:rPr lang="en-US" b="true" i="false" strike="noStrike" u="none" sz="1400">
                          <a:solidFill>
                            <a:srgbClr val="333333"/>
                          </a:solidFill>
                          <a:latin typeface="Noto Sans SC"/>
                          <a:ea typeface="Noto Sans SC"/>
                          <a:cs typeface="Noto Sans SC"/>
                          <a:sym typeface="Noto Sans SC"/>
                        </a:rPr>
                        <a:t>比较鉴赏</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l" indent="0" marL="127000">
                        <a:lnSpc>
                          <a:spcPct val="100000"/>
                        </a:lnSpc>
                        <a:defRPr/>
                      </a:pPr>
                      <a:r>
                        <a:rPr lang="en-US" b="false" i="false" strike="noStrike" u="none" sz="1400">
                          <a:solidFill>
                            <a:srgbClr val="666666"/>
                          </a:solidFill>
                          <a:latin typeface="Noto Sans SC"/>
                          <a:ea typeface="Noto Sans SC"/>
                          <a:cs typeface="Noto Sans SC"/>
                          <a:sym typeface="Noto Sans SC"/>
                        </a:rPr>
                        <a:t>先整体比较共性 → 再分开作答个性差异</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r>
              <a:tr h="444500">
                <a:tc>
                  <a:txBody>
                    <a:bodyPr anchor="t" rtlCol="false"/>
                    <a:lstStyle/>
                    <a:p>
                      <a:pPr algn="ctr" indent="0">
                        <a:lnSpc>
                          <a:spcPct val="100000"/>
                        </a:lnSpc>
                        <a:defRPr/>
                      </a:pPr>
                      <a:r>
                        <a:rPr lang="en-US" b="true" i="false" strike="noStrike" u="none" sz="1400">
                          <a:solidFill>
                            <a:srgbClr val="333333"/>
                          </a:solidFill>
                          <a:latin typeface="Noto Sans SC"/>
                          <a:ea typeface="Noto Sans SC"/>
                          <a:cs typeface="Noto Sans SC"/>
                          <a:sym typeface="Noto Sans SC"/>
                        </a:rPr>
                        <a:t>诗评题</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003366">
                        <a:alpha val="5000"/>
                      </a:srgbClr>
                    </a:solidFill>
                  </a:tcPr>
                </a:tc>
                <a:tc>
                  <a:txBody>
                    <a:bodyPr anchor="t" rtlCol="false"/>
                    <a:lstStyle/>
                    <a:p>
                      <a:pPr algn="l" indent="0" marL="127000">
                        <a:lnSpc>
                          <a:spcPct val="100000"/>
                        </a:lnSpc>
                        <a:defRPr/>
                      </a:pPr>
                      <a:r>
                        <a:rPr lang="en-US" b="false" i="false" strike="noStrike" u="none" sz="1400">
                          <a:solidFill>
                            <a:srgbClr val="666666"/>
                          </a:solidFill>
                          <a:latin typeface="Noto Sans SC"/>
                          <a:ea typeface="Noto Sans SC"/>
                          <a:cs typeface="Noto Sans SC"/>
                          <a:sym typeface="Noto Sans SC"/>
                        </a:rPr>
                        <a:t>明确观点 → 引用论据 → 逻辑论述</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003366">
                        <a:alpha val="5000"/>
                      </a:srgbClr>
                    </a:solidFill>
                  </a:tcPr>
                </a:tc>
              </a:tr>
              <a:tr h="444500">
                <a:tc>
                  <a:txBody>
                    <a:bodyPr anchor="t" rtlCol="false"/>
                    <a:lstStyle/>
                    <a:p>
                      <a:pPr algn="ctr" indent="0">
                        <a:lnSpc>
                          <a:spcPct val="100000"/>
                        </a:lnSpc>
                        <a:defRPr/>
                      </a:pPr>
                      <a:r>
                        <a:rPr lang="en-US" b="true" i="false" strike="noStrike" u="none" sz="1400">
                          <a:solidFill>
                            <a:srgbClr val="333333"/>
                          </a:solidFill>
                          <a:latin typeface="Noto Sans SC"/>
                          <a:ea typeface="Noto Sans SC"/>
                          <a:cs typeface="Noto Sans SC"/>
                          <a:sym typeface="Noto Sans SC"/>
                        </a:rPr>
                        <a:t>炼字/炼句</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l" indent="0" marL="127000">
                        <a:lnSpc>
                          <a:spcPct val="100000"/>
                        </a:lnSpc>
                        <a:defRPr/>
                      </a:pPr>
                      <a:r>
                        <a:rPr lang="en-US" b="false" i="false" strike="noStrike" u="none" sz="1400">
                          <a:solidFill>
                            <a:srgbClr val="666666"/>
                          </a:solidFill>
                          <a:latin typeface="Noto Sans SC"/>
                          <a:ea typeface="Noto Sans SC"/>
                          <a:cs typeface="Noto Sans SC"/>
                          <a:sym typeface="Noto Sans SC"/>
                        </a:rPr>
                        <a:t>字面释义 → 表达效果 → 在全诗中的作用</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r>
              <a:tr h="444500">
                <a:tc>
                  <a:txBody>
                    <a:bodyPr anchor="t" rtlCol="false"/>
                    <a:lstStyle/>
                    <a:p>
                      <a:pPr algn="ctr" indent="0">
                        <a:lnSpc>
                          <a:spcPct val="100000"/>
                        </a:lnSpc>
                        <a:defRPr/>
                      </a:pPr>
                      <a:r>
                        <a:rPr lang="en-US" b="true" i="false" strike="noStrike" u="none" sz="1400">
                          <a:solidFill>
                            <a:srgbClr val="333333"/>
                          </a:solidFill>
                          <a:latin typeface="Noto Sans SC"/>
                          <a:ea typeface="Noto Sans SC"/>
                          <a:cs typeface="Noto Sans SC"/>
                          <a:sym typeface="Noto Sans SC"/>
                        </a:rPr>
                        <a:t>通用规范</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a:noFill/>
                    </a:lnB>
                    <a:solidFill>
                      <a:srgbClr val="003366">
                        <a:alpha val="5000"/>
                      </a:srgbClr>
                    </a:solidFill>
                  </a:tcPr>
                </a:tc>
                <a:tc>
                  <a:txBody>
                    <a:bodyPr anchor="t" rtlCol="false"/>
                    <a:lstStyle/>
                    <a:p>
                      <a:pPr algn="l" indent="0" marL="127000">
                        <a:lnSpc>
                          <a:spcPct val="100000"/>
                        </a:lnSpc>
                        <a:defRPr/>
                      </a:pPr>
                      <a:r>
                        <a:rPr lang="en-US" b="false" i="false" strike="noStrike" u="none" sz="1400">
                          <a:solidFill>
                            <a:srgbClr val="666666"/>
                          </a:solidFill>
                          <a:latin typeface="Noto Sans SC"/>
                          <a:ea typeface="Noto Sans SC"/>
                          <a:cs typeface="Noto Sans SC"/>
                          <a:sym typeface="Noto Sans SC"/>
                        </a:rPr>
                        <a:t>点明角度 — 结合诗句 — 分析效果 — 点明情感</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a:noFill/>
                    </a:lnB>
                    <a:solidFill>
                      <a:srgbClr val="003366">
                        <a:alpha val="5000"/>
                      </a:srgbClr>
                    </a:solidFill>
                  </a:tcPr>
                </a:tc>
              </a:tr>
            </a:tbl>
          </a:graphicData>
        </a:graphic>
      </p:graphicFrame>
      <p:sp>
        <p:nvSpPr>
          <p:cNvPr name="AutoShape 9" id="9"/>
          <p:cNvSpPr/>
          <p:nvPr/>
        </p:nvSpPr>
        <p:spPr>
          <a:xfrm rot="0" flipH="false" flipV="false">
            <a:off x="762000" y="4826000"/>
            <a:ext cx="10668000" cy="1270000"/>
          </a:xfrm>
          <a:prstGeom prst="roundRect">
            <a:avLst>
              <a:gd name="adj" fmla="val 10000"/>
            </a:avLst>
          </a:prstGeom>
          <a:solidFill>
            <a:srgbClr val="FF6600">
              <a:alpha val="8000"/>
            </a:srgbClr>
          </a:solidFill>
          <a:ln w="12700" cmpd="sng" cap="flat">
            <a:solidFill>
              <a:srgbClr val="FF6600">
                <a:alpha val="100000"/>
              </a:srgbClr>
            </a:solidFill>
            <a:prstDash val="dash"/>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5143500"/>
            <a:ext cx="406400" cy="406400"/>
          </a:xfrm>
          <a:prstGeom prst="rect">
            <a:avLst/>
          </a:prstGeom>
        </p:spPr>
      </p:pic>
      <p:sp>
        <p:nvSpPr>
          <p:cNvPr name="AutoShape 11" id="11"/>
          <p:cNvSpPr/>
          <p:nvPr/>
        </p:nvSpPr>
        <p:spPr>
          <a:xfrm rot="0" flipH="false" flipV="false">
            <a:off x="1524000" y="5016500"/>
            <a:ext cx="9652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3366"/>
                </a:solidFill>
                <a:latin typeface="Noto Sans SC"/>
                <a:ea typeface="Noto Sans SC"/>
                <a:cs typeface="Noto Sans SC"/>
                <a:sym typeface="Noto Sans SC"/>
              </a:rPr>
              <a:t>答题核心原则：</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400">
                <a:solidFill>
                  <a:srgbClr val="666666"/>
                </a:solidFill>
                <a:latin typeface="Noto Sans SC"/>
                <a:ea typeface="Noto Sans SC"/>
                <a:cs typeface="Noto Sans SC"/>
                <a:sym typeface="Noto Sans SC"/>
              </a:rPr>
              <a:t>无论何种题型，高分答案的共性在于：</a:t>
            </a:r>
            <a:r>
              <a:rPr lang="en-US" b="true" i="false" strike="noStrike" u="none" sz="1400">
                <a:solidFill>
                  <a:srgbClr val="FF6600"/>
                </a:solidFill>
                <a:latin typeface="Noto Sans SC"/>
                <a:ea typeface="Noto Sans SC"/>
                <a:cs typeface="Noto Sans SC"/>
                <a:sym typeface="Noto Sans SC"/>
              </a:rPr>
              <a:t>“观点明确、证据确凿、逻辑严密、语言规范”</a:t>
            </a:r>
            <a:r>
              <a:rPr lang="en-US" b="false" i="false" strike="noStrike" u="none" sz="1400">
                <a:solidFill>
                  <a:srgbClr val="666666"/>
                </a:solidFill>
                <a:latin typeface="Noto Sans SC"/>
                <a:ea typeface="Noto Sans SC"/>
                <a:cs typeface="Noto Sans SC"/>
                <a:sym typeface="Noto Sans SC"/>
              </a:rPr>
              <a:t>。切忌空洞抒情，要始终紧贴文本进行分析。</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301752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3366"/>
                </a:solidFill>
                <a:latin typeface="Noto Sans SC"/>
                <a:ea typeface="Noto Sans SC"/>
                <a:cs typeface="Noto Sans SC"/>
                <a:sym typeface="Noto Sans SC"/>
              </a:rPr>
              <a:t>五、备考建议</a:t>
            </a:r>
            <a:endParaRPr lang="en-US" sz="1100"/>
          </a:p>
        </p:txBody>
      </p:sp>
      <p:sp>
        <p:nvSpPr>
          <p:cNvPr name="AutoShape 3" id="3"/>
          <p:cNvSpPr/>
          <p:nvPr/>
        </p:nvSpPr>
        <p:spPr>
          <a:xfrm rot="0" flipH="false" flipV="false">
            <a:off x="762000" y="1270000"/>
            <a:ext cx="762000" cy="50800"/>
          </a:xfrm>
          <a:prstGeom prst="roundRect">
            <a:avLst>
              <a:gd name="adj" fmla="val 0"/>
            </a:avLst>
          </a:prstGeom>
          <a:solidFill>
            <a:srgbClr val="FF660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3378200" cy="1905000"/>
          </a:xfrm>
          <a:prstGeom prst="roundRect">
            <a:avLst>
              <a:gd name="adj" fmla="val 6666"/>
            </a:avLst>
          </a:prstGeom>
          <a:solidFill>
            <a:srgbClr val="003366">
              <a:alpha val="3000"/>
            </a:srgbClr>
          </a:solidFill>
          <a:ln w="12700" cmpd="sng" cap="flat">
            <a:solidFill>
              <a:srgbClr val="003366">
                <a:alpha val="1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841500"/>
            <a:ext cx="355600" cy="355600"/>
          </a:xfrm>
          <a:prstGeom prst="rect">
            <a:avLst/>
          </a:prstGeom>
        </p:spPr>
      </p:pic>
      <p:sp>
        <p:nvSpPr>
          <p:cNvPr name="AutoShape 6" id="6"/>
          <p:cNvSpPr/>
          <p:nvPr/>
        </p:nvSpPr>
        <p:spPr>
          <a:xfrm rot="0" flipH="false" flipV="false">
            <a:off x="1473200" y="18034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夯实知识基础</a:t>
            </a:r>
            <a:endParaRPr lang="en-US" sz="1100"/>
          </a:p>
        </p:txBody>
      </p:sp>
      <p:sp>
        <p:nvSpPr>
          <p:cNvPr name="AutoShape 7" id="7"/>
          <p:cNvSpPr/>
          <p:nvPr/>
        </p:nvSpPr>
        <p:spPr>
          <a:xfrm rot="0" flipH="false" flipV="false">
            <a:off x="1016000" y="2286000"/>
            <a:ext cx="28702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400">
                <a:solidFill>
                  <a:srgbClr val="666666"/>
                </a:solidFill>
                <a:latin typeface="Noto Sans SC"/>
                <a:ea typeface="Noto Sans SC"/>
                <a:cs typeface="Noto Sans SC"/>
                <a:sym typeface="Noto Sans SC"/>
              </a:rPr>
              <a:t>建立“意象—意境—情感—手法”的完整鉴赏链条，构建稳固的知识体系。</a:t>
            </a:r>
            <a:endParaRPr lang="en-US" sz="1100"/>
          </a:p>
        </p:txBody>
      </p:sp>
      <p:sp>
        <p:nvSpPr>
          <p:cNvPr name="AutoShape 8" id="8"/>
          <p:cNvSpPr/>
          <p:nvPr/>
        </p:nvSpPr>
        <p:spPr>
          <a:xfrm rot="0" flipH="false" flipV="false">
            <a:off x="4394200" y="1651000"/>
            <a:ext cx="3378200" cy="1905000"/>
          </a:xfrm>
          <a:prstGeom prst="roundRect">
            <a:avLst>
              <a:gd name="adj" fmla="val 6666"/>
            </a:avLst>
          </a:prstGeom>
          <a:solidFill>
            <a:srgbClr val="003366">
              <a:alpha val="3000"/>
            </a:srgbClr>
          </a:solidFill>
          <a:ln w="12700" cmpd="sng" cap="flat">
            <a:solidFill>
              <a:srgbClr val="003366">
                <a:alpha val="1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48200" y="1841500"/>
            <a:ext cx="355600" cy="355600"/>
          </a:xfrm>
          <a:prstGeom prst="rect">
            <a:avLst/>
          </a:prstGeom>
        </p:spPr>
      </p:pic>
      <p:sp>
        <p:nvSpPr>
          <p:cNvPr name="AutoShape 10" id="10"/>
          <p:cNvSpPr/>
          <p:nvPr/>
        </p:nvSpPr>
        <p:spPr>
          <a:xfrm rot="0" flipH="false" flipV="false">
            <a:off x="5105400" y="18034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强化教考衔接</a:t>
            </a:r>
            <a:endParaRPr lang="en-US" sz="1100"/>
          </a:p>
        </p:txBody>
      </p:sp>
      <p:sp>
        <p:nvSpPr>
          <p:cNvPr name="AutoShape 11" id="11"/>
          <p:cNvSpPr/>
          <p:nvPr/>
        </p:nvSpPr>
        <p:spPr>
          <a:xfrm rot="0" flipH="false" flipV="false">
            <a:off x="4648200" y="2286000"/>
            <a:ext cx="28702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400">
                <a:solidFill>
                  <a:srgbClr val="666666"/>
                </a:solidFill>
                <a:latin typeface="Noto Sans SC"/>
                <a:ea typeface="Noto Sans SC"/>
                <a:cs typeface="Noto Sans SC"/>
                <a:sym typeface="Noto Sans SC"/>
              </a:rPr>
              <a:t>回归教材原点，系统梳理课内实词、典故与表现手法，打通课内外联系。</a:t>
            </a:r>
            <a:endParaRPr lang="en-US" sz="1100"/>
          </a:p>
        </p:txBody>
      </p:sp>
      <p:sp>
        <p:nvSpPr>
          <p:cNvPr name="AutoShape 12" id="12"/>
          <p:cNvSpPr/>
          <p:nvPr/>
        </p:nvSpPr>
        <p:spPr>
          <a:xfrm rot="0" flipH="false" flipV="false">
            <a:off x="8026400" y="1651000"/>
            <a:ext cx="3378200" cy="1905000"/>
          </a:xfrm>
          <a:prstGeom prst="roundRect">
            <a:avLst>
              <a:gd name="adj" fmla="val 6666"/>
            </a:avLst>
          </a:prstGeom>
          <a:solidFill>
            <a:srgbClr val="003366">
              <a:alpha val="3000"/>
            </a:srgbClr>
          </a:solidFill>
          <a:ln w="12700" cmpd="sng" cap="flat">
            <a:solidFill>
              <a:srgbClr val="003366">
                <a:alpha val="1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280400" y="1841500"/>
            <a:ext cx="355600" cy="355600"/>
          </a:xfrm>
          <a:prstGeom prst="rect">
            <a:avLst/>
          </a:prstGeom>
        </p:spPr>
      </p:pic>
      <p:sp>
        <p:nvSpPr>
          <p:cNvPr name="AutoShape 14" id="14"/>
          <p:cNvSpPr/>
          <p:nvPr/>
        </p:nvSpPr>
        <p:spPr>
          <a:xfrm rot="0" flipH="false" flipV="false">
            <a:off x="8737600" y="18034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训练审题精准度</a:t>
            </a:r>
            <a:endParaRPr lang="en-US" sz="1100"/>
          </a:p>
        </p:txBody>
      </p:sp>
      <p:sp>
        <p:nvSpPr>
          <p:cNvPr name="AutoShape 15" id="15"/>
          <p:cNvSpPr/>
          <p:nvPr/>
        </p:nvSpPr>
        <p:spPr>
          <a:xfrm rot="0" flipH="false" flipV="false">
            <a:off x="8280400" y="2286000"/>
            <a:ext cx="28702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400">
                <a:solidFill>
                  <a:srgbClr val="666666"/>
                </a:solidFill>
                <a:latin typeface="Noto Sans SC"/>
                <a:ea typeface="Noto Sans SC"/>
                <a:cs typeface="Noto Sans SC"/>
                <a:sym typeface="Noto Sans SC"/>
              </a:rPr>
              <a:t>从被动“读题干”升级为主动“析题向”，精准捕捉命题意图与考点指向。</a:t>
            </a:r>
            <a:endParaRPr lang="en-US" sz="1100"/>
          </a:p>
        </p:txBody>
      </p:sp>
      <p:sp>
        <p:nvSpPr>
          <p:cNvPr name="AutoShape 16" id="16"/>
          <p:cNvSpPr/>
          <p:nvPr/>
        </p:nvSpPr>
        <p:spPr>
          <a:xfrm rot="0" flipH="false" flipV="false">
            <a:off x="762000" y="3810000"/>
            <a:ext cx="3378200" cy="1905000"/>
          </a:xfrm>
          <a:prstGeom prst="roundRect">
            <a:avLst>
              <a:gd name="adj" fmla="val 6666"/>
            </a:avLst>
          </a:prstGeom>
          <a:solidFill>
            <a:srgbClr val="003366">
              <a:alpha val="3000"/>
            </a:srgbClr>
          </a:solidFill>
          <a:ln w="12700" cmpd="sng" cap="flat">
            <a:solidFill>
              <a:srgbClr val="003366">
                <a:alpha val="1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4000500"/>
            <a:ext cx="355600" cy="355600"/>
          </a:xfrm>
          <a:prstGeom prst="rect">
            <a:avLst/>
          </a:prstGeom>
        </p:spPr>
      </p:pic>
      <p:sp>
        <p:nvSpPr>
          <p:cNvPr name="AutoShape 18" id="18"/>
          <p:cNvSpPr/>
          <p:nvPr/>
        </p:nvSpPr>
        <p:spPr>
          <a:xfrm rot="0" flipH="false" flipV="false">
            <a:off x="1473200" y="39624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规范答题范式</a:t>
            </a:r>
            <a:endParaRPr lang="en-US" sz="1100"/>
          </a:p>
        </p:txBody>
      </p:sp>
      <p:sp>
        <p:nvSpPr>
          <p:cNvPr name="AutoShape 19" id="19"/>
          <p:cNvSpPr/>
          <p:nvPr/>
        </p:nvSpPr>
        <p:spPr>
          <a:xfrm rot="0" flipH="false" flipV="false">
            <a:off x="1016000" y="4445000"/>
            <a:ext cx="28702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400">
                <a:solidFill>
                  <a:srgbClr val="666666"/>
                </a:solidFill>
                <a:latin typeface="Noto Sans SC"/>
                <a:ea typeface="Noto Sans SC"/>
                <a:cs typeface="Noto Sans SC"/>
                <a:sym typeface="Noto Sans SC"/>
              </a:rPr>
              <a:t>熟练运用“四步规范”，做到要点齐全、逻辑清晰，避免只译不议的失分点。</a:t>
            </a:r>
            <a:endParaRPr lang="en-US" sz="1100"/>
          </a:p>
        </p:txBody>
      </p:sp>
      <p:sp>
        <p:nvSpPr>
          <p:cNvPr name="AutoShape 20" id="20"/>
          <p:cNvSpPr/>
          <p:nvPr/>
        </p:nvSpPr>
        <p:spPr>
          <a:xfrm rot="0" flipH="false" flipV="false">
            <a:off x="4394200" y="3810000"/>
            <a:ext cx="3378200" cy="1905000"/>
          </a:xfrm>
          <a:prstGeom prst="roundRect">
            <a:avLst>
              <a:gd name="adj" fmla="val 6666"/>
            </a:avLst>
          </a:prstGeom>
          <a:solidFill>
            <a:srgbClr val="003366">
              <a:alpha val="3000"/>
            </a:srgbClr>
          </a:solidFill>
          <a:ln w="12700" cmpd="sng" cap="flat">
            <a:solidFill>
              <a:srgbClr val="003366">
                <a:alpha val="1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648200" y="4000500"/>
            <a:ext cx="355600" cy="355600"/>
          </a:xfrm>
          <a:prstGeom prst="rect">
            <a:avLst/>
          </a:prstGeom>
        </p:spPr>
      </p:pic>
      <p:sp>
        <p:nvSpPr>
          <p:cNvPr name="AutoShape 22" id="22"/>
          <p:cNvSpPr/>
          <p:nvPr/>
        </p:nvSpPr>
        <p:spPr>
          <a:xfrm rot="0" flipH="false" flipV="false">
            <a:off x="5105400" y="39624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关注命题创新</a:t>
            </a:r>
            <a:endParaRPr lang="en-US" sz="1100"/>
          </a:p>
        </p:txBody>
      </p:sp>
      <p:sp>
        <p:nvSpPr>
          <p:cNvPr name="AutoShape 23" id="23"/>
          <p:cNvSpPr/>
          <p:nvPr/>
        </p:nvSpPr>
        <p:spPr>
          <a:xfrm rot="0" flipH="false" flipV="false">
            <a:off x="4648200" y="4445000"/>
            <a:ext cx="28702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400">
                <a:solidFill>
                  <a:srgbClr val="666666"/>
                </a:solidFill>
                <a:latin typeface="Noto Sans SC"/>
                <a:ea typeface="Noto Sans SC"/>
                <a:cs typeface="Noto Sans SC"/>
                <a:sym typeface="Noto Sans SC"/>
              </a:rPr>
              <a:t>主动适应新题型，重点掌握比较鉴赏、关联式命题及诗评类题目的解题技巧。</a:t>
            </a:r>
            <a:endParaRPr lang="en-US" sz="1100"/>
          </a:p>
        </p:txBody>
      </p:sp>
      <p:sp>
        <p:nvSpPr>
          <p:cNvPr name="AutoShape 24" id="24"/>
          <p:cNvSpPr/>
          <p:nvPr/>
        </p:nvSpPr>
        <p:spPr>
          <a:xfrm rot="0" flipH="false" flipV="false">
            <a:off x="8026400" y="3810000"/>
            <a:ext cx="3378200" cy="1905000"/>
          </a:xfrm>
          <a:prstGeom prst="roundRect">
            <a:avLst>
              <a:gd name="adj" fmla="val 6666"/>
            </a:avLst>
          </a:prstGeom>
          <a:solidFill>
            <a:srgbClr val="003366">
              <a:alpha val="8000"/>
            </a:srgbClr>
          </a:solidFill>
          <a:ln w="12700" cmpd="sng" cap="flat">
            <a:solidFill>
              <a:srgbClr val="003366">
                <a:alpha val="15000"/>
              </a:srgbClr>
            </a:solid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280400" y="4000500"/>
            <a:ext cx="355600" cy="355600"/>
          </a:xfrm>
          <a:prstGeom prst="rect">
            <a:avLst/>
          </a:prstGeom>
        </p:spPr>
      </p:pic>
      <p:sp>
        <p:nvSpPr>
          <p:cNvPr name="AutoShape 26" id="26"/>
          <p:cNvSpPr/>
          <p:nvPr/>
        </p:nvSpPr>
        <p:spPr>
          <a:xfrm rot="0" flipH="false" flipV="false">
            <a:off x="8737600" y="39624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综合提升</a:t>
            </a:r>
            <a:endParaRPr lang="en-US" sz="1100"/>
          </a:p>
        </p:txBody>
      </p:sp>
      <p:sp>
        <p:nvSpPr>
          <p:cNvPr name="AutoShape 27" id="27"/>
          <p:cNvSpPr/>
          <p:nvPr/>
        </p:nvSpPr>
        <p:spPr>
          <a:xfrm rot="0" flipH="false" flipV="false">
            <a:off x="8280400" y="4445000"/>
            <a:ext cx="28702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400">
                <a:solidFill>
                  <a:srgbClr val="666666"/>
                </a:solidFill>
                <a:latin typeface="Noto Sans SC"/>
                <a:ea typeface="Noto Sans SC"/>
                <a:cs typeface="Noto Sans SC"/>
                <a:sym typeface="Noto Sans SC"/>
              </a:rPr>
              <a:t>在扎实基础之上，灵活运用技巧，以不变应万变，从容应对各类考试挑战。</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524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5461000" y="1651000"/>
            <a:ext cx="1270000" cy="1270000"/>
          </a:xfrm>
          <a:prstGeom prst="rect">
            <a:avLst/>
          </a:prstGeom>
        </p:spPr>
      </p:pic>
      <p:sp>
        <p:nvSpPr>
          <p:cNvPr name="AutoShape 4" id="4"/>
          <p:cNvSpPr/>
          <p:nvPr/>
        </p:nvSpPr>
        <p:spPr>
          <a:xfrm rot="0" flipH="false" flipV="false">
            <a:off x="2209800" y="3175000"/>
            <a:ext cx="77724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800">
                <a:solidFill>
                  <a:srgbClr val="003366"/>
                </a:solidFill>
                <a:latin typeface="Noto Sans SC"/>
                <a:ea typeface="Noto Sans SC"/>
                <a:cs typeface="Noto Sans SC"/>
                <a:sym typeface="Noto Sans SC"/>
              </a:rPr>
              <a:t>感谢聆听</a:t>
            </a:r>
            <a:endParaRPr lang="en-US" sz="1100"/>
          </a:p>
        </p:txBody>
      </p:sp>
      <p:sp>
        <p:nvSpPr>
          <p:cNvPr name="AutoShape 5" id="5"/>
          <p:cNvSpPr/>
          <p:nvPr/>
        </p:nvSpPr>
        <p:spPr>
          <a:xfrm rot="0" flipH="false" flipV="false">
            <a:off x="2209800" y="4064000"/>
            <a:ext cx="7772400" cy="381000"/>
          </a:xfrm>
          <a:prstGeom prst="rect">
            <a:avLst/>
          </a:prstGeom>
          <a:noFill/>
          <a:ln w="12700" cmpd="sng" cap="flat">
            <a:noFill/>
            <a:prstDash val="solid"/>
            <a:round/>
          </a:ln>
        </p:spPr>
        <p:txBody>
          <a:bodyPr anchor="t" rtlCol="false" anchorCtr="false" vert="horz" wrap="none" lIns="0" rIns="0" tIns="0" bIns="0"/>
          <a:lstStyle/>
          <a:p>
            <a:pPr algn="ctr" indent="0">
              <a:lnSpc>
                <a:spcPct val="125000"/>
              </a:lnSpc>
              <a:defRPr/>
            </a:pPr>
            <a:r>
              <a:rPr lang="en-US" b="false" i="false" strike="noStrike" u="none" sz="1800" spc="200">
                <a:solidFill>
                  <a:srgbClr val="003366">
                    <a:alpha val="70196"/>
                  </a:srgbClr>
                </a:solidFill>
                <a:latin typeface="Arial"/>
                <a:ea typeface="Arial"/>
                <a:cs typeface="Arial"/>
                <a:sym typeface="Arial"/>
              </a:rPr>
              <a:t>THANKS FOR LISTENING</a:t>
            </a:r>
            <a:endParaRPr lang="en-US" sz="1100"/>
          </a:p>
        </p:txBody>
      </p:sp>
      <p:sp>
        <p:nvSpPr>
          <p:cNvPr name="AutoShape 6" id="6"/>
          <p:cNvSpPr/>
          <p:nvPr/>
        </p:nvSpPr>
        <p:spPr>
          <a:xfrm rot="0" flipH="false" flipV="false">
            <a:off x="2209800" y="4699000"/>
            <a:ext cx="7772400" cy="381000"/>
          </a:xfrm>
          <a:prstGeom prst="rect">
            <a:avLst/>
          </a:prstGeom>
          <a:noFill/>
          <a:ln w="12700" cmpd="sng" cap="flat">
            <a:noFill/>
            <a:prstDash val="solid"/>
            <a:round/>
          </a:ln>
        </p:spPr>
        <p:txBody>
          <a:bodyPr anchor="t" rtlCol="false" anchorCtr="false" vert="horz" wrap="none" lIns="0" rIns="0" tIns="0" bIns="0"/>
          <a:lstStyle/>
          <a:p>
            <a:pPr algn="ctr" indent="0">
              <a:lnSpc>
                <a:spcPct val="125000"/>
              </a:lnSpc>
              <a:defRPr/>
            </a:pPr>
            <a:r>
              <a:rPr lang="en-US" b="false" i="false" strike="noStrike" u="none" sz="1600">
                <a:solidFill>
                  <a:srgbClr val="646464"/>
                </a:solidFill>
                <a:latin typeface="Noto Sans SC"/>
                <a:ea typeface="Noto Sans SC"/>
                <a:cs typeface="Noto Sans SC"/>
                <a:sym typeface="Noto Sans SC"/>
              </a:rPr>
              <a:t>欢迎交流与探讨</a:t>
            </a:r>
            <a:endParaRPr lang="en-US" sz="1100"/>
          </a:p>
        </p:txBody>
      </p:sp>
      <p:sp>
        <p:nvSpPr>
          <p:cNvPr name="AutoShape 7" id="7"/>
          <p:cNvSpPr/>
          <p:nvPr/>
        </p:nvSpPr>
        <p:spPr>
          <a:xfrm rot="0" flipH="false" flipV="false">
            <a:off x="0" y="6705600"/>
            <a:ext cx="12192000" cy="1524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